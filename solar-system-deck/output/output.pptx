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edf3a90cfe4b49" /><Relationship Type="http://schemas.openxmlformats.org/officeDocument/2006/relationships/extended-properties" Target="/docProps/app.xml" Id="R26ab8071109e4a27" /><Relationship Type="http://schemas.openxmlformats.org/officeDocument/2006/relationships/officeDocument" Target="/ppt/presentation.xml" Id="Rfe71d214d45d41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5e62155e884d27"/>
  </p:sldMasterIdLst>
  <p:notesMasterIdLst>
    <p:notesMasterId xmlns:r="http://schemas.openxmlformats.org/officeDocument/2006/relationships" r:id="R3301c29a9acd4ed9"/>
  </p:notesMasterIdLst>
  <p:sldIdLst>
    <p:sldId xmlns:r="http://schemas.openxmlformats.org/officeDocument/2006/relationships" id="256" r:id="R72a59fcdac7a4102"/>
    <p:sldId xmlns:r="http://schemas.openxmlformats.org/officeDocument/2006/relationships" id="257" r:id="R19590d407eb84052"/>
    <p:sldId xmlns:r="http://schemas.openxmlformats.org/officeDocument/2006/relationships" id="258" r:id="Re643836164eb4809"/>
    <p:sldId xmlns:r="http://schemas.openxmlformats.org/officeDocument/2006/relationships" id="259" r:id="R6426719d6a164a00"/>
    <p:sldId xmlns:r="http://schemas.openxmlformats.org/officeDocument/2006/relationships" id="260" r:id="Rc0a44d6749a54880"/>
    <p:sldId xmlns:r="http://schemas.openxmlformats.org/officeDocument/2006/relationships" id="261" r:id="Rf145ca309cfe417e"/>
    <p:sldId xmlns:r="http://schemas.openxmlformats.org/officeDocument/2006/relationships" id="262" r:id="Rc8c74427e7274ac0"/>
    <p:sldId xmlns:r="http://schemas.openxmlformats.org/officeDocument/2006/relationships" id="263" r:id="R3c57b93a2f6e4ad3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5e62155e884d27" /><Relationship Type="http://schemas.openxmlformats.org/officeDocument/2006/relationships/theme" Target="/ppt/theme/theme1.xml" Id="R98bdd09a7d594741" /><Relationship Type="http://schemas.openxmlformats.org/officeDocument/2006/relationships/notesMaster" Target="/ppt/notesMasters/notesMaster1.xml" Id="R3301c29a9acd4ed9" /><Relationship Type="http://schemas.openxmlformats.org/officeDocument/2006/relationships/presProps" Target="/ppt/presProps.xml" Id="R3bd5be54614148b7" /><Relationship Type="http://schemas.openxmlformats.org/officeDocument/2006/relationships/viewProps" Target="/ppt/viewProps.xml" Id="R2e544a02a6754d9f" /><Relationship Type="http://schemas.openxmlformats.org/officeDocument/2006/relationships/tableStyles" Target="/ppt/tableStyles.xml" Id="Rf04329ecd1b74d90" /><Relationship Type="http://schemas.openxmlformats.org/officeDocument/2006/relationships/slide" Target="/ppt/slides/slide1.xml" Id="R72a59fcdac7a4102" /><Relationship Type="http://schemas.openxmlformats.org/officeDocument/2006/relationships/slide" Target="/ppt/slides/slide2.xml" Id="R19590d407eb84052" /><Relationship Type="http://schemas.openxmlformats.org/officeDocument/2006/relationships/slide" Target="/ppt/slides/slide3.xml" Id="Re643836164eb4809" /><Relationship Type="http://schemas.openxmlformats.org/officeDocument/2006/relationships/slide" Target="/ppt/slides/slide4.xml" Id="R6426719d6a164a00" /><Relationship Type="http://schemas.openxmlformats.org/officeDocument/2006/relationships/slide" Target="/ppt/slides/slide5.xml" Id="Rc0a44d6749a54880" /><Relationship Type="http://schemas.openxmlformats.org/officeDocument/2006/relationships/slide" Target="/ppt/slides/slide6.xml" Id="Rf145ca309cfe417e" /><Relationship Type="http://schemas.openxmlformats.org/officeDocument/2006/relationships/slide" Target="/ppt/slides/slide7.xml" Id="Rc8c74427e7274ac0" /><Relationship Type="http://schemas.openxmlformats.org/officeDocument/2006/relationships/slide" Target="/ppt/slides/slide8.xml" Id="R3c57b93a2f6e4a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e7428adeed14d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cfe846d66b499f" /><Relationship Type="http://schemas.openxmlformats.org/officeDocument/2006/relationships/notesMaster" Target="/ppt/notesMasters/notesMaster1.xml" Id="R8f1e4a86946146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21d8bb741a48d7" /><Relationship Type="http://schemas.openxmlformats.org/officeDocument/2006/relationships/notesMaster" Target="/ppt/notesMasters/notesMaster1.xml" Id="R834ab6751cb546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e8538fc262411e" /><Relationship Type="http://schemas.openxmlformats.org/officeDocument/2006/relationships/notesMaster" Target="/ppt/notesMasters/notesMaster1.xml" Id="R009606ac2ded4e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6a08244f654ce2" /><Relationship Type="http://schemas.openxmlformats.org/officeDocument/2006/relationships/notesMaster" Target="/ppt/notesMasters/notesMaster1.xml" Id="Rdf3280be7cdf44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9c4e2ff9e343b8" /><Relationship Type="http://schemas.openxmlformats.org/officeDocument/2006/relationships/notesMaster" Target="/ppt/notesMasters/notesMaster1.xml" Id="Rf9de2be0fc0a45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3623cf29a34e7d" /><Relationship Type="http://schemas.openxmlformats.org/officeDocument/2006/relationships/notesMaster" Target="/ppt/notesMasters/notesMaster1.xml" Id="Re14e5a041abc4a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11346c9b1244a8" /><Relationship Type="http://schemas.openxmlformats.org/officeDocument/2006/relationships/notesMaster" Target="/ppt/notesMasters/notesMaster1.xml" Id="R9aba95cd0fd840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a0234138124bcf" /><Relationship Type="http://schemas.openxmlformats.org/officeDocument/2006/relationships/notesMaster" Target="/ppt/notesMasters/notesMaster1.xml" Id="Rc0d5fa60ccb747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idea that the solar system is not a list of planets. It is a dynamic system organized by the Sun's gravity.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reset scale. The Sun is the object that makes a solar system a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viewer should remember the family split: terrestrial planets inside, giant planets outside.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scale reveal. Even the chart compresses the inner planets near the baseline.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the four inner planets as a natural experiment in planetary evolution.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giant planets are not just bigger rocks. They are complex worlds with their own internal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Ceres as a concrete example that small worlds can be scientifically rich.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making the science feel connected to origin, habitability, climate, and exploration.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789889d70e4cb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2a9ebb6120940f6" /><Relationship Type="http://schemas.openxmlformats.org/officeDocument/2006/relationships/slideLayout" Target="/ppt/slideLayouts/slideLayout2.xml" Id="R530ff942a52f49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0ff942a52f49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f59ec2c6cf4e97" /><Relationship Type="http://schemas.openxmlformats.org/officeDocument/2006/relationships/image" Target="/ppt/media/image.jpeg" Id="Rff44a6efe9b04af7" /><Relationship Type="http://schemas.openxmlformats.org/officeDocument/2006/relationships/notesSlide" Target="/ppt/notesSlides/notesSlide1.xml" Id="R9b415e1362ce42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3141ddb5c34b84" /><Relationship Type="http://schemas.openxmlformats.org/officeDocument/2006/relationships/image" Target="/ppt/media/image2.jpeg" Id="Rfe6bcf8c64d74edb" /><Relationship Type="http://schemas.openxmlformats.org/officeDocument/2006/relationships/notesSlide" Target="/ppt/notesSlides/notesSlide2.xml" Id="R3b8db331303f4a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c195c5965e4c2a" /><Relationship Type="http://schemas.openxmlformats.org/officeDocument/2006/relationships/image" Target="/ppt/media/image3.jpeg" Id="Rbdf8195e979e4862" /><Relationship Type="http://schemas.openxmlformats.org/officeDocument/2006/relationships/image" Target="/ppt/media/image4.jpeg" Id="R3c666405f5b34a81" /><Relationship Type="http://schemas.openxmlformats.org/officeDocument/2006/relationships/image" Target="/ppt/media/image5.jpeg" Id="R910b15ebf58946b4" /><Relationship Type="http://schemas.openxmlformats.org/officeDocument/2006/relationships/image" Target="/ppt/media/image6.jpeg" Id="R2f484f8538f643a8" /><Relationship Type="http://schemas.openxmlformats.org/officeDocument/2006/relationships/image" Target="/ppt/media/image7.jpeg" Id="R49768fd2732f48c7" /><Relationship Type="http://schemas.openxmlformats.org/officeDocument/2006/relationships/image" Target="/ppt/media/image8.jpeg" Id="Rf85072c1dd164d7c" /><Relationship Type="http://schemas.openxmlformats.org/officeDocument/2006/relationships/image" Target="/ppt/media/image9.jpeg" Id="R42f114873eb74acf" /><Relationship Type="http://schemas.openxmlformats.org/officeDocument/2006/relationships/image" Target="/ppt/media/image10.jpeg" Id="R48990ba228fd4b51" /><Relationship Type="http://schemas.openxmlformats.org/officeDocument/2006/relationships/notesSlide" Target="/ppt/notesSlides/notesSlide3.xml" Id="Rf08b112acc0343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bf1e5dfe9a4d6c" /><Relationship Type="http://schemas.openxmlformats.org/officeDocument/2006/relationships/chart" Target="/ppt/slides/charts/chart1.xml" Id="R93518a6813e9438d" /><Relationship Type="http://schemas.openxmlformats.org/officeDocument/2006/relationships/notesSlide" Target="/ppt/notesSlides/notesSlide4.xml" Id="Re1662c3b10aa4e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83d18cc7c64ac2" /><Relationship Type="http://schemas.openxmlformats.org/officeDocument/2006/relationships/image" Target="/ppt/media/image11.jpeg" Id="R105da856c73440b1" /><Relationship Type="http://schemas.openxmlformats.org/officeDocument/2006/relationships/image" Target="/ppt/media/image12.jpeg" Id="R8ce3e3d51f2a4845" /><Relationship Type="http://schemas.openxmlformats.org/officeDocument/2006/relationships/image" Target="/ppt/media/image13.jpeg" Id="R2236923bf0894594" /><Relationship Type="http://schemas.openxmlformats.org/officeDocument/2006/relationships/image" Target="/ppt/media/image14.jpeg" Id="R58770b9f7b214c93" /><Relationship Type="http://schemas.openxmlformats.org/officeDocument/2006/relationships/notesSlide" Target="/ppt/notesSlides/notesSlide5.xml" Id="R40b869c7796a4f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0997c286fb4ce7" /><Relationship Type="http://schemas.openxmlformats.org/officeDocument/2006/relationships/image" Target="/ppt/media/image15.jpeg" Id="R751c60de105140ba" /><Relationship Type="http://schemas.openxmlformats.org/officeDocument/2006/relationships/image" Target="/ppt/media/image16.jpeg" Id="Reb4823aba1994579" /><Relationship Type="http://schemas.openxmlformats.org/officeDocument/2006/relationships/image" Target="/ppt/media/image17.jpeg" Id="R4a65644318d64313" /><Relationship Type="http://schemas.openxmlformats.org/officeDocument/2006/relationships/image" Target="/ppt/media/image18.jpeg" Id="R068ef8f8cd7b4775" /><Relationship Type="http://schemas.openxmlformats.org/officeDocument/2006/relationships/notesSlide" Target="/ppt/notesSlides/notesSlide6.xml" Id="R214aad94324c4a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a734ae02c74d16" /><Relationship Type="http://schemas.openxmlformats.org/officeDocument/2006/relationships/image" Target="/ppt/media/image19.jpeg" Id="R47cf7c035ae744af" /><Relationship Type="http://schemas.openxmlformats.org/officeDocument/2006/relationships/notesSlide" Target="/ppt/notesSlides/notesSlide7.xml" Id="Reb948b08c19449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a67ae02451463d" /><Relationship Type="http://schemas.openxmlformats.org/officeDocument/2006/relationships/image" Target="/ppt/media/image20.jpeg" Id="R20092e0cac3e4db3" /><Relationship Type="http://schemas.openxmlformats.org/officeDocument/2006/relationships/notesSlide" Target="/ppt/notesSlides/notesSlide8.xml" Id="R037e617b7d7c40f1" /></Relationships>
</file>

<file path=ppt/slides/charts/chart1.xml><?xml version="1.0" encoding="utf-8"?>
<c:chartSpace xmlns:c="http://schemas.openxmlformats.org/drawingml/2006/chart">
  <c:lang val="en-US"/>
  <c:roundedCorners val="0"/>
  <c:chart>
    <c:spPr>
      <a:solidFill xmlns:a="http://schemas.openxmlformats.org/drawingml/2006/main">
        <a:srgbClr val="F9F6EF"/>
      </a:solidFill>
    </c:spPr>
    <c:plotArea>
      <c:layout/>
      <c:barChart>
        <c:barDir val="col"/>
        <c:grouping val="clustered"/>
        <c:varyColors val="0"/>
        <c:ser>
          <c:idx val="0"/>
          <c:order val="0"/>
          <c:tx>
            <c:v>Average distance from Sun (AU)</c:v>
          </c:tx>
          <c:spPr>
            <a:solidFill xmlns:a="http://schemas.openxmlformats.org/drawingml/2006/main">
              <a:srgbClr val="49B6FF"/>
            </a:solidFill>
            <a:ln xmlns:a="http://schemas.openxmlformats.org/drawingml/2006/main" w="9525">
              <a:solidFill>
                <a:srgbClr val="49B6FF"/>
              </a:solidFill>
              <a:prstDash val="solid"/>
            </a:ln>
          </c:spPr>
          <c:cat>
            <c:strLit>
              <c:ptCount val="8"/>
              <c:pt idx="0">
                <c:v>Mercury</c:v>
              </c:pt>
              <c:pt idx="1">
                <c:v>Venus</c:v>
              </c:pt>
              <c:pt idx="2">
                <c:v>Earth</c:v>
              </c:pt>
              <c:pt idx="3">
                <c:v>Mars</c:v>
              </c:pt>
              <c:pt idx="4">
                <c:v>Jupiter</c:v>
              </c:pt>
              <c:pt idx="5">
                <c:v>Saturn</c:v>
              </c:pt>
              <c:pt idx="6">
                <c:v>Uranus</c:v>
              </c:pt>
              <c:pt idx="7">
                <c:v>Neptune</c:v>
              </c:pt>
            </c:strLit>
          </c:cat>
          <c:val>
            <c:numLit>
              <c:formatCode/>
              <c:ptCount val="8"/>
              <c:pt idx="0">
                <c:v>0.39</c:v>
              </c:pt>
              <c:pt idx="1">
                <c:v>0.72</c:v>
              </c:pt>
              <c:pt idx="2">
                <c:v>1</c:v>
              </c:pt>
              <c:pt idx="3">
                <c:v>1.52</c:v>
              </c:pt>
              <c:pt idx="4">
                <c:v>5.2</c:v>
              </c:pt>
              <c:pt idx="5">
                <c:v>9.58</c:v>
              </c:pt>
              <c:pt idx="6">
                <c:v>19.2</c:v>
              </c:pt>
              <c:pt idx="7">
                <c:v>30.05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C9CED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654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5EA"/>
              </a:solidFill>
              <a:prstDash val="solid"/>
            </a:ln>
          </c:spPr>
        </c:majorGridlines>
        <c:title>
          <c:overlay val="0"/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667085"/>
                    </a:solidFill>
                  </a:rPr>
                  <a:t>Astronomical units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667085"/>
                  </a:solidFill>
                </a:defRPr>
              </a:pPr>
            </a:p>
          </c:txPr>
        </c:title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9F6EF"/>
        </a:solidFill>
      </c:spPr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tar-17-0">
            <a:extLst xmlns:a="http://schemas.openxmlformats.org/drawingml/2006/main">
              <a:ext uri="{FF2B5EF4-FFF2-40B4-BE49-F238E27FC236}">
                <a16:creationId xmlns:a16="http://schemas.microsoft.com/office/drawing/2014/main" id="{43473E80-926E-4DE0-928C-5CEE1FC8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41341" y="8468642"/>
            <a:ext cx="21611" cy="216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2" name="star-17-1">
            <a:extLst xmlns:a="http://schemas.openxmlformats.org/drawingml/2006/main">
              <a:ext uri="{FF2B5EF4-FFF2-40B4-BE49-F238E27FC236}">
                <a16:creationId xmlns:a16="http://schemas.microsoft.com/office/drawing/2014/main" id="{41B82913-6432-4196-A1C3-AFF9EA1A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22463" y="1701346"/>
            <a:ext cx="32415" cy="324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3" name="star-17-2">
            <a:extLst xmlns:a="http://schemas.openxmlformats.org/drawingml/2006/main">
              <a:ext uri="{FF2B5EF4-FFF2-40B4-BE49-F238E27FC236}">
                <a16:creationId xmlns:a16="http://schemas.microsoft.com/office/drawing/2014/main" id="{F41906C9-9618-45FB-BD73-FB586368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10257" y="2496039"/>
            <a:ext cx="23407" cy="234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4" name="star-17-3">
            <a:extLst xmlns:a="http://schemas.openxmlformats.org/drawingml/2006/main">
              <a:ext uri="{FF2B5EF4-FFF2-40B4-BE49-F238E27FC236}">
                <a16:creationId xmlns:a16="http://schemas.microsoft.com/office/drawing/2014/main" id="{7915B7D6-A328-46C6-8C6A-FFAB1C55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4854" y="2077960"/>
            <a:ext cx="37041" cy="370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5" name="star-17-4">
            <a:extLst xmlns:a="http://schemas.openxmlformats.org/drawingml/2006/main">
              <a:ext uri="{FF2B5EF4-FFF2-40B4-BE49-F238E27FC236}">
                <a16:creationId xmlns:a16="http://schemas.microsoft.com/office/drawing/2014/main" id="{BE4998D9-B4DC-43A9-B00A-8F28BD71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3105" y="6760655"/>
            <a:ext cx="29970" cy="299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6" name="star-17-5">
            <a:extLst xmlns:a="http://schemas.openxmlformats.org/drawingml/2006/main">
              <a:ext uri="{FF2B5EF4-FFF2-40B4-BE49-F238E27FC236}">
                <a16:creationId xmlns:a16="http://schemas.microsoft.com/office/drawing/2014/main" id="{95C09A8D-CA93-4385-AC36-CE9FA8D5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251" y="8090394"/>
            <a:ext cx="25878" cy="258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7" name="star-17-6">
            <a:extLst xmlns:a="http://schemas.openxmlformats.org/drawingml/2006/main">
              <a:ext uri="{FF2B5EF4-FFF2-40B4-BE49-F238E27FC236}">
                <a16:creationId xmlns:a16="http://schemas.microsoft.com/office/drawing/2014/main" id="{C9DB41D2-7EC7-49C9-882B-CC5F078F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9588" y="2107833"/>
            <a:ext cx="39065" cy="390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8" name="star-17-7">
            <a:extLst xmlns:a="http://schemas.openxmlformats.org/drawingml/2006/main">
              <a:ext uri="{FF2B5EF4-FFF2-40B4-BE49-F238E27FC236}">
                <a16:creationId xmlns:a16="http://schemas.microsoft.com/office/drawing/2014/main" id="{B2466008-140E-41D2-8747-133628C8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85636" y="5720436"/>
            <a:ext cx="22163" cy="221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9" name="star-17-8">
            <a:extLst xmlns:a="http://schemas.openxmlformats.org/drawingml/2006/main">
              <a:ext uri="{FF2B5EF4-FFF2-40B4-BE49-F238E27FC236}">
                <a16:creationId xmlns:a16="http://schemas.microsoft.com/office/drawing/2014/main" id="{15E2798C-BDB8-4FFC-9E8D-C3DF0655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4800" y="843637"/>
            <a:ext cx="55160" cy="55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10" name="star-17-9">
            <a:extLst xmlns:a="http://schemas.openxmlformats.org/drawingml/2006/main">
              <a:ext uri="{FF2B5EF4-FFF2-40B4-BE49-F238E27FC236}">
                <a16:creationId xmlns:a16="http://schemas.microsoft.com/office/drawing/2014/main" id="{BB19C188-3679-4799-9608-6B5C098F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64045" y="5669012"/>
            <a:ext cx="51813" cy="51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11" name="star-17-10">
            <a:extLst xmlns:a="http://schemas.openxmlformats.org/drawingml/2006/main">
              <a:ext uri="{FF2B5EF4-FFF2-40B4-BE49-F238E27FC236}">
                <a16:creationId xmlns:a16="http://schemas.microsoft.com/office/drawing/2014/main" id="{03EF6DF8-3D38-46F5-AABE-B846EC13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9556" y="4359189"/>
            <a:ext cx="33124" cy="331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12" name="star-17-11">
            <a:extLst xmlns:a="http://schemas.openxmlformats.org/drawingml/2006/main">
              <a:ext uri="{FF2B5EF4-FFF2-40B4-BE49-F238E27FC236}">
                <a16:creationId xmlns:a16="http://schemas.microsoft.com/office/drawing/2014/main" id="{25B5C96B-120B-4971-AADD-66FA0D66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0905" y="3869770"/>
            <a:ext cx="26798" cy="267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13" name="star-17-12">
            <a:extLst xmlns:a="http://schemas.openxmlformats.org/drawingml/2006/main">
              <a:ext uri="{FF2B5EF4-FFF2-40B4-BE49-F238E27FC236}">
                <a16:creationId xmlns:a16="http://schemas.microsoft.com/office/drawing/2014/main" id="{04DF9F7F-C62B-4573-8FA9-011D32A4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16724" y="1204496"/>
            <a:ext cx="27026" cy="2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14" name="star-17-13">
            <a:extLst xmlns:a="http://schemas.openxmlformats.org/drawingml/2006/main">
              <a:ext uri="{FF2B5EF4-FFF2-40B4-BE49-F238E27FC236}">
                <a16:creationId xmlns:a16="http://schemas.microsoft.com/office/drawing/2014/main" id="{F2AD2953-4244-44B2-8F82-A1C59E5D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72364" y="8455414"/>
            <a:ext cx="50788" cy="507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15" name="star-17-14">
            <a:extLst xmlns:a="http://schemas.openxmlformats.org/drawingml/2006/main">
              <a:ext uri="{FF2B5EF4-FFF2-40B4-BE49-F238E27FC236}">
                <a16:creationId xmlns:a16="http://schemas.microsoft.com/office/drawing/2014/main" id="{2A4074FB-58D1-4106-9318-0733D746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0566" y="5611792"/>
            <a:ext cx="37312" cy="37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16" name="star-17-15">
            <a:extLst xmlns:a="http://schemas.openxmlformats.org/drawingml/2006/main">
              <a:ext uri="{FF2B5EF4-FFF2-40B4-BE49-F238E27FC236}">
                <a16:creationId xmlns:a16="http://schemas.microsoft.com/office/drawing/2014/main" id="{C9A76D80-6AA6-4E63-B223-3A120F85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6126" y="3160537"/>
            <a:ext cx="25028" cy="25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17" name="star-17-16">
            <a:extLst xmlns:a="http://schemas.openxmlformats.org/drawingml/2006/main">
              <a:ext uri="{FF2B5EF4-FFF2-40B4-BE49-F238E27FC236}">
                <a16:creationId xmlns:a16="http://schemas.microsoft.com/office/drawing/2014/main" id="{9EF5D8B3-FEF4-4B33-8B21-2565A943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48062" y="6452112"/>
            <a:ext cx="26894" cy="268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18" name="star-17-17">
            <a:extLst xmlns:a="http://schemas.openxmlformats.org/drawingml/2006/main">
              <a:ext uri="{FF2B5EF4-FFF2-40B4-BE49-F238E27FC236}">
                <a16:creationId xmlns:a16="http://schemas.microsoft.com/office/drawing/2014/main" id="{763EBFE0-A489-4003-B561-E88F564F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92282" y="3180452"/>
            <a:ext cx="38442" cy="384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19" name="star-17-18">
            <a:extLst xmlns:a="http://schemas.openxmlformats.org/drawingml/2006/main">
              <a:ext uri="{FF2B5EF4-FFF2-40B4-BE49-F238E27FC236}">
                <a16:creationId xmlns:a16="http://schemas.microsoft.com/office/drawing/2014/main" id="{2D1EE07E-5262-4E8D-9398-E5495E29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249" y="8647882"/>
            <a:ext cx="33755" cy="33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20" name="star-17-19">
            <a:extLst xmlns:a="http://schemas.openxmlformats.org/drawingml/2006/main">
              <a:ext uri="{FF2B5EF4-FFF2-40B4-BE49-F238E27FC236}">
                <a16:creationId xmlns:a16="http://schemas.microsoft.com/office/drawing/2014/main" id="{5DA67F17-7571-4F44-BD14-E33FA899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9648" y="4127781"/>
            <a:ext cx="21768" cy="217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21" name="star-17-20">
            <a:extLst xmlns:a="http://schemas.openxmlformats.org/drawingml/2006/main">
              <a:ext uri="{FF2B5EF4-FFF2-40B4-BE49-F238E27FC236}">
                <a16:creationId xmlns:a16="http://schemas.microsoft.com/office/drawing/2014/main" id="{C62C6629-FC9C-41AE-9564-BD8B3806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14554" y="2354251"/>
            <a:ext cx="54318" cy="543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22" name="star-17-21">
            <a:extLst xmlns:a="http://schemas.openxmlformats.org/drawingml/2006/main">
              <a:ext uri="{FF2B5EF4-FFF2-40B4-BE49-F238E27FC236}">
                <a16:creationId xmlns:a16="http://schemas.microsoft.com/office/drawing/2014/main" id="{0D3F24AB-4DD7-4C90-A055-FCB0A9C7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07095" y="6109533"/>
            <a:ext cx="41141" cy="41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23" name="star-17-22">
            <a:extLst xmlns:a="http://schemas.openxmlformats.org/drawingml/2006/main">
              <a:ext uri="{FF2B5EF4-FFF2-40B4-BE49-F238E27FC236}">
                <a16:creationId xmlns:a16="http://schemas.microsoft.com/office/drawing/2014/main" id="{3988839B-3528-4BC9-BCC6-18C98525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5624" y="7260923"/>
            <a:ext cx="23345" cy="233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24" name="star-17-23">
            <a:extLst xmlns:a="http://schemas.openxmlformats.org/drawingml/2006/main">
              <a:ext uri="{FF2B5EF4-FFF2-40B4-BE49-F238E27FC236}">
                <a16:creationId xmlns:a16="http://schemas.microsoft.com/office/drawing/2014/main" id="{C091FEDD-9F43-4F50-BDD4-C71C4BD4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5881" y="8911690"/>
            <a:ext cx="36681" cy="366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25" name="star-17-24">
            <a:extLst xmlns:a="http://schemas.openxmlformats.org/drawingml/2006/main">
              <a:ext uri="{FF2B5EF4-FFF2-40B4-BE49-F238E27FC236}">
                <a16:creationId xmlns:a16="http://schemas.microsoft.com/office/drawing/2014/main" id="{E39A1FE7-7680-4960-B2B4-8DFC70BC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5663" y="1323990"/>
            <a:ext cx="35121" cy="351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26" name="star-17-25">
            <a:extLst xmlns:a="http://schemas.openxmlformats.org/drawingml/2006/main">
              <a:ext uri="{FF2B5EF4-FFF2-40B4-BE49-F238E27FC236}">
                <a16:creationId xmlns:a16="http://schemas.microsoft.com/office/drawing/2014/main" id="{2E9C6EB7-196E-45B6-97BD-D9336F13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8988" y="4294537"/>
            <a:ext cx="19560" cy="19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27" name="star-17-26">
            <a:extLst xmlns:a="http://schemas.openxmlformats.org/drawingml/2006/main">
              <a:ext uri="{FF2B5EF4-FFF2-40B4-BE49-F238E27FC236}">
                <a16:creationId xmlns:a16="http://schemas.microsoft.com/office/drawing/2014/main" id="{3BBC1ACC-252F-457B-BDC4-6ABCB236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3764" y="2628017"/>
            <a:ext cx="45854" cy="458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28" name="star-17-27">
            <a:extLst xmlns:a="http://schemas.openxmlformats.org/drawingml/2006/main">
              <a:ext uri="{FF2B5EF4-FFF2-40B4-BE49-F238E27FC236}">
                <a16:creationId xmlns:a16="http://schemas.microsoft.com/office/drawing/2014/main" id="{52D623FC-879C-4271-AAB4-C60B9895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9453" y="8737502"/>
            <a:ext cx="39826" cy="398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29" name="star-17-28">
            <a:extLst xmlns:a="http://schemas.openxmlformats.org/drawingml/2006/main">
              <a:ext uri="{FF2B5EF4-FFF2-40B4-BE49-F238E27FC236}">
                <a16:creationId xmlns:a16="http://schemas.microsoft.com/office/drawing/2014/main" id="{561175BF-787B-47F9-B399-D9B24835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8241" y="1007124"/>
            <a:ext cx="34543" cy="345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30" name="star-17-29">
            <a:extLst xmlns:a="http://schemas.openxmlformats.org/drawingml/2006/main">
              <a:ext uri="{FF2B5EF4-FFF2-40B4-BE49-F238E27FC236}">
                <a16:creationId xmlns:a16="http://schemas.microsoft.com/office/drawing/2014/main" id="{5BDFDFF4-4503-4CDD-B53E-FAC676FD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16702" y="6617233"/>
            <a:ext cx="33579" cy="335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31" name="star-17-30">
            <a:extLst xmlns:a="http://schemas.openxmlformats.org/drawingml/2006/main">
              <a:ext uri="{FF2B5EF4-FFF2-40B4-BE49-F238E27FC236}">
                <a16:creationId xmlns:a16="http://schemas.microsoft.com/office/drawing/2014/main" id="{5B4E27F0-1DAF-414D-B8E8-45EBF3BF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5966" y="8125320"/>
            <a:ext cx="43191" cy="431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32" name="star-17-31">
            <a:extLst xmlns:a="http://schemas.openxmlformats.org/drawingml/2006/main">
              <a:ext uri="{FF2B5EF4-FFF2-40B4-BE49-F238E27FC236}">
                <a16:creationId xmlns:a16="http://schemas.microsoft.com/office/drawing/2014/main" id="{43C46665-21B0-4CAC-9323-2284D332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1883" y="3177182"/>
            <a:ext cx="20033" cy="200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33" name="star-17-32">
            <a:extLst xmlns:a="http://schemas.openxmlformats.org/drawingml/2006/main">
              <a:ext uri="{FF2B5EF4-FFF2-40B4-BE49-F238E27FC236}">
                <a16:creationId xmlns:a16="http://schemas.microsoft.com/office/drawing/2014/main" id="{7AD92AA1-0B21-4385-84AD-B37B51E7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4196" y="654588"/>
            <a:ext cx="23985" cy="239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34" name="star-17-33">
            <a:extLst xmlns:a="http://schemas.openxmlformats.org/drawingml/2006/main">
              <a:ext uri="{FF2B5EF4-FFF2-40B4-BE49-F238E27FC236}">
                <a16:creationId xmlns:a16="http://schemas.microsoft.com/office/drawing/2014/main" id="{3462252E-2CC1-45B2-89A6-9A995217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73700" y="5265944"/>
            <a:ext cx="33149" cy="331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35" name="star-17-34">
            <a:extLst xmlns:a="http://schemas.openxmlformats.org/drawingml/2006/main">
              <a:ext uri="{FF2B5EF4-FFF2-40B4-BE49-F238E27FC236}">
                <a16:creationId xmlns:a16="http://schemas.microsoft.com/office/drawing/2014/main" id="{AE5FD108-54E1-4599-B2D5-565E97AE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2914" y="7915463"/>
            <a:ext cx="36356" cy="363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36" name="star-17-35">
            <a:extLst xmlns:a="http://schemas.openxmlformats.org/drawingml/2006/main">
              <a:ext uri="{FF2B5EF4-FFF2-40B4-BE49-F238E27FC236}">
                <a16:creationId xmlns:a16="http://schemas.microsoft.com/office/drawing/2014/main" id="{D34E716A-70E0-4DEB-BB32-1D5E78EC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8246" y="7854082"/>
            <a:ext cx="41201" cy="412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37" name="star-17-36">
            <a:extLst xmlns:a="http://schemas.openxmlformats.org/drawingml/2006/main">
              <a:ext uri="{FF2B5EF4-FFF2-40B4-BE49-F238E27FC236}">
                <a16:creationId xmlns:a16="http://schemas.microsoft.com/office/drawing/2014/main" id="{D2924023-9777-46BE-A6AE-2124F093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6657" y="5937873"/>
            <a:ext cx="33833" cy="33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38" name="star-17-37">
            <a:extLst xmlns:a="http://schemas.openxmlformats.org/drawingml/2006/main">
              <a:ext uri="{FF2B5EF4-FFF2-40B4-BE49-F238E27FC236}">
                <a16:creationId xmlns:a16="http://schemas.microsoft.com/office/drawing/2014/main" id="{5AF25CA0-DC00-4367-9247-05850320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39834" y="3664966"/>
            <a:ext cx="35252" cy="352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39" name="star-17-38">
            <a:extLst xmlns:a="http://schemas.openxmlformats.org/drawingml/2006/main">
              <a:ext uri="{FF2B5EF4-FFF2-40B4-BE49-F238E27FC236}">
                <a16:creationId xmlns:a16="http://schemas.microsoft.com/office/drawing/2014/main" id="{423CD564-3A30-48FD-B488-347767CD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7351" y="7990964"/>
            <a:ext cx="36969" cy="36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40" name="star-17-39">
            <a:extLst xmlns:a="http://schemas.openxmlformats.org/drawingml/2006/main">
              <a:ext uri="{FF2B5EF4-FFF2-40B4-BE49-F238E27FC236}">
                <a16:creationId xmlns:a16="http://schemas.microsoft.com/office/drawing/2014/main" id="{72C5D08F-F65F-4B97-9973-AEC4CDF3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7836" y="7251857"/>
            <a:ext cx="33175" cy="33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41" name="star-17-40">
            <a:extLst xmlns:a="http://schemas.openxmlformats.org/drawingml/2006/main">
              <a:ext uri="{FF2B5EF4-FFF2-40B4-BE49-F238E27FC236}">
                <a16:creationId xmlns:a16="http://schemas.microsoft.com/office/drawing/2014/main" id="{2C9280E9-81A8-4CA1-A482-4F72D9CD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11143" y="4871942"/>
            <a:ext cx="40851" cy="408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42" name="star-17-41">
            <a:extLst xmlns:a="http://schemas.openxmlformats.org/drawingml/2006/main">
              <a:ext uri="{FF2B5EF4-FFF2-40B4-BE49-F238E27FC236}">
                <a16:creationId xmlns:a16="http://schemas.microsoft.com/office/drawing/2014/main" id="{CF60E2A8-43F2-4478-ADF9-F2F23CB2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45511" y="6843736"/>
            <a:ext cx="35418" cy="354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43" name="star-17-42">
            <a:extLst xmlns:a="http://schemas.openxmlformats.org/drawingml/2006/main">
              <a:ext uri="{FF2B5EF4-FFF2-40B4-BE49-F238E27FC236}">
                <a16:creationId xmlns:a16="http://schemas.microsoft.com/office/drawing/2014/main" id="{59FE3219-1DEA-4799-A32B-1F03288B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80237" y="6318647"/>
            <a:ext cx="19113" cy="191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44" name="star-17-43">
            <a:extLst xmlns:a="http://schemas.openxmlformats.org/drawingml/2006/main">
              <a:ext uri="{FF2B5EF4-FFF2-40B4-BE49-F238E27FC236}">
                <a16:creationId xmlns:a16="http://schemas.microsoft.com/office/drawing/2014/main" id="{17572AE7-B138-4E24-9386-60BEAF44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5340" y="8647139"/>
            <a:ext cx="41087" cy="410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45" name="star-17-44">
            <a:extLst xmlns:a="http://schemas.openxmlformats.org/drawingml/2006/main">
              <a:ext uri="{FF2B5EF4-FFF2-40B4-BE49-F238E27FC236}">
                <a16:creationId xmlns:a16="http://schemas.microsoft.com/office/drawing/2014/main" id="{F6F4D5F1-2DD3-45B6-B103-396C6C07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5727" y="1523146"/>
            <a:ext cx="24484" cy="244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46" name="star-17-45">
            <a:extLst xmlns:a="http://schemas.openxmlformats.org/drawingml/2006/main">
              <a:ext uri="{FF2B5EF4-FFF2-40B4-BE49-F238E27FC236}">
                <a16:creationId xmlns:a16="http://schemas.microsoft.com/office/drawing/2014/main" id="{906EDECD-FBC3-4278-A648-C6CCD057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7861" y="8916743"/>
            <a:ext cx="51969" cy="51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47" name="star-17-46">
            <a:extLst xmlns:a="http://schemas.openxmlformats.org/drawingml/2006/main">
              <a:ext uri="{FF2B5EF4-FFF2-40B4-BE49-F238E27FC236}">
                <a16:creationId xmlns:a16="http://schemas.microsoft.com/office/drawing/2014/main" id="{39E8C02A-B830-44EB-9578-7A315978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69927" y="3433559"/>
            <a:ext cx="23896" cy="23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48" name="star-17-47">
            <a:extLst xmlns:a="http://schemas.openxmlformats.org/drawingml/2006/main">
              <a:ext uri="{FF2B5EF4-FFF2-40B4-BE49-F238E27FC236}">
                <a16:creationId xmlns:a16="http://schemas.microsoft.com/office/drawing/2014/main" id="{3A00C488-68F0-484A-B257-CE85CCA5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6499" y="6475446"/>
            <a:ext cx="28295" cy="28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49" name="star-17-48">
            <a:extLst xmlns:a="http://schemas.openxmlformats.org/drawingml/2006/main">
              <a:ext uri="{FF2B5EF4-FFF2-40B4-BE49-F238E27FC236}">
                <a16:creationId xmlns:a16="http://schemas.microsoft.com/office/drawing/2014/main" id="{34633FC8-410F-4136-AE58-658E8A5B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8207" y="3489144"/>
            <a:ext cx="47290" cy="47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50" name="star-17-49">
            <a:extLst xmlns:a="http://schemas.openxmlformats.org/drawingml/2006/main">
              <a:ext uri="{FF2B5EF4-FFF2-40B4-BE49-F238E27FC236}">
                <a16:creationId xmlns:a16="http://schemas.microsoft.com/office/drawing/2014/main" id="{05B56A35-4858-4524-995E-79D5F404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4402" y="3677451"/>
            <a:ext cx="49603" cy="49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51" name="star-17-50">
            <a:extLst xmlns:a="http://schemas.openxmlformats.org/drawingml/2006/main">
              <a:ext uri="{FF2B5EF4-FFF2-40B4-BE49-F238E27FC236}">
                <a16:creationId xmlns:a16="http://schemas.microsoft.com/office/drawing/2014/main" id="{2D825E0D-E4E5-4EAC-BA7C-598DAF15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0826" y="1475884"/>
            <a:ext cx="34787" cy="347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52" name="star-17-51">
            <a:extLst xmlns:a="http://schemas.openxmlformats.org/drawingml/2006/main">
              <a:ext uri="{FF2B5EF4-FFF2-40B4-BE49-F238E27FC236}">
                <a16:creationId xmlns:a16="http://schemas.microsoft.com/office/drawing/2014/main" id="{1E63BBF1-325C-4AAA-9BE9-CAC58BC1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5275" y="4482101"/>
            <a:ext cx="29206" cy="292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53" name="star-17-52">
            <a:extLst xmlns:a="http://schemas.openxmlformats.org/drawingml/2006/main">
              <a:ext uri="{FF2B5EF4-FFF2-40B4-BE49-F238E27FC236}">
                <a16:creationId xmlns:a16="http://schemas.microsoft.com/office/drawing/2014/main" id="{4591C839-FAD8-44D8-9F50-102DFB6B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267" y="6489565"/>
            <a:ext cx="33753" cy="337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54" name="star-17-53">
            <a:extLst xmlns:a="http://schemas.openxmlformats.org/drawingml/2006/main">
              <a:ext uri="{FF2B5EF4-FFF2-40B4-BE49-F238E27FC236}">
                <a16:creationId xmlns:a16="http://schemas.microsoft.com/office/drawing/2014/main" id="{A6685D0B-0A1E-46DF-AF3E-723D1135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81709" y="970711"/>
            <a:ext cx="31896" cy="31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55" name="star-17-54">
            <a:extLst xmlns:a="http://schemas.openxmlformats.org/drawingml/2006/main">
              <a:ext uri="{FF2B5EF4-FFF2-40B4-BE49-F238E27FC236}">
                <a16:creationId xmlns:a16="http://schemas.microsoft.com/office/drawing/2014/main" id="{EB7BF8EE-070F-4987-A20C-8DD3E987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2065" y="9006363"/>
            <a:ext cx="21846" cy="218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56" name="star-17-55">
            <a:extLst xmlns:a="http://schemas.openxmlformats.org/drawingml/2006/main">
              <a:ext uri="{FF2B5EF4-FFF2-40B4-BE49-F238E27FC236}">
                <a16:creationId xmlns:a16="http://schemas.microsoft.com/office/drawing/2014/main" id="{4532927C-9066-4CF4-8405-E930FB8A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48520" y="8980651"/>
            <a:ext cx="36671" cy="366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57" name="star-17-56">
            <a:extLst xmlns:a="http://schemas.openxmlformats.org/drawingml/2006/main">
              <a:ext uri="{FF2B5EF4-FFF2-40B4-BE49-F238E27FC236}">
                <a16:creationId xmlns:a16="http://schemas.microsoft.com/office/drawing/2014/main" id="{34F0457B-AE93-41EF-9A06-422354DE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8647" y="2070677"/>
            <a:ext cx="43750" cy="4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7FF"/>
          </a:solidFill>
        </p:spPr>
      </p:sp>
      <p:sp>
        <p:nvSpPr>
          <p:cNvPr id="58" name="star-17-57">
            <a:extLst xmlns:a="http://schemas.openxmlformats.org/drawingml/2006/main">
              <a:ext uri="{FF2B5EF4-FFF2-40B4-BE49-F238E27FC236}">
                <a16:creationId xmlns:a16="http://schemas.microsoft.com/office/drawing/2014/main" id="{8C1B0942-1B85-44D5-8917-655E3C55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7077" y="5504931"/>
            <a:ext cx="49340" cy="49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pic>
        <p:nvPicPr>
          <p:cNvPr id="59" name="cover-su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4a6efe9b04af7"/>
          <a:srcRect xmlns:a="http://schemas.openxmlformats.org/drawingml/2006/main" l="14864" t="0" r="148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381250" y="-1333500"/>
            <a:ext cx="10287000" cy="12954000"/>
          </a:xfrm>
          <a:prstGeom xmlns:a="http://schemas.openxmlformats.org/drawingml/2006/main" prst="rect">
            <a:avLst/>
          </a:prstGeom>
        </p:spPr>
      </p:pic>
      <p:sp>
        <p:nvSpPr>
          <p:cNvPr id="60" name="cover-shadow">
            <a:extLst xmlns:a="http://schemas.openxmlformats.org/drawingml/2006/main">
              <a:ext uri="{FF2B5EF4-FFF2-40B4-BE49-F238E27FC236}">
                <a16:creationId xmlns:a16="http://schemas.microsoft.com/office/drawing/2014/main" id="{3C1C02A0-6167-4BC3-B8B8-F8555233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0"/>
            <a:ext cx="2095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2"/>
          </a:solidFill>
        </p:spPr>
      </p:sp>
      <p:sp>
        <p:nvSpPr>
          <p:cNvPr id="61" name="rule-928-196">
            <a:extLst xmlns:a="http://schemas.openxmlformats.org/drawingml/2006/main">
              <a:ext uri="{FF2B5EF4-FFF2-40B4-BE49-F238E27FC236}">
                <a16:creationId xmlns:a16="http://schemas.microsoft.com/office/drawing/2014/main" id="{EAB6A20F-29FF-4C90-8CFD-17A92160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9200" y="1866900"/>
            <a:ext cx="66675" cy="655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6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2794F32-7669-4F66-96D4-6B4565A9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09750"/>
            <a:ext cx="6096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00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Solar</a:t>
            </a:r>
          </a:p>
          <a:p xmlns:a="http://schemas.openxmlformats.org/drawingml/2006/main">
            <a:pPr algn="l">
              <a:defRPr sz="7800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System</a:t>
            </a:r>
          </a:p>
        </p:txBody>
      </p:sp>
      <p:sp>
        <p:nvSpPr>
          <p:cNvPr id="6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F676B6F-BDBA-4783-AA3D-6A674FBF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10125"/>
            <a:ext cx="6286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0" i="0">
                <a:solidFill>
                  <a:srgbClr val="F6EFE4"/>
                </a:solidFill>
                <a:latin typeface="Aptos Display"/>
                <a:ea typeface="Aptos Display"/>
                <a:cs typeface="Aptos Display"/>
              </a:defRPr>
            </a:pPr>
            <a:r>
              <a:t>A neighborhood built by gravity, sunlight, and deep time</a:t>
            </a:r>
          </a:p>
        </p:txBody>
      </p:sp>
      <p:sp>
        <p:nvSpPr>
          <p:cNvPr id="6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C332992F-F9B7-4D7B-B27C-857F3487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7627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t>Editable 8-slide visual tour</a:t>
            </a:r>
          </a:p>
        </p:txBody>
      </p:sp>
      <p:sp>
        <p:nvSpPr>
          <p:cNvPr id="65" name="cover-source">
            <a:extLst xmlns:a="http://schemas.openxmlformats.org/drawingml/2006/main">
              <a:ext uri="{FF2B5EF4-FFF2-40B4-BE49-F238E27FC236}">
                <a16:creationId xmlns:a16="http://schemas.microsoft.com/office/drawing/2014/main" id="{73E2ADB1-9222-465A-8E5F-A45BFB45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820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9DA8B8"/>
                </a:solidFill>
                <a:latin typeface="Aptos"/>
                <a:ea typeface="Aptos"/>
                <a:cs typeface="Aptos"/>
              </a:defRPr>
            </a:pPr>
            <a:r>
              <a:t>NASA image sources; simplified educational scale</a:t>
            </a:r>
          </a:p>
        </p:txBody>
      </p:sp>
    </p:spTree>
    <p:extLst>
      <p:ext uri="{BB962C8B-B14F-4D97-AF65-F5344CB8AC3E}">
        <p14:creationId xmlns:p14="http://schemas.microsoft.com/office/powerpoint/2010/main" val="13036113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sun-anchor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bcf8c64d74edb"/>
          <a:srcRect xmlns:a="http://schemas.openxmlformats.org/drawingml/2006/main" l="16816" t="0" r="168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-1524000"/>
            <a:ext cx="9715500" cy="12954000"/>
          </a:xfrm>
          <a:prstGeom xmlns:a="http://schemas.openxmlformats.org/drawingml/2006/main" prst="rect">
            <a:avLst/>
          </a:prstGeom>
        </p:spPr>
      </p:pic>
      <p:sp>
        <p:nvSpPr>
          <p:cNvPr id="2" name="paper-field">
            <a:extLst xmlns:a="http://schemas.openxmlformats.org/drawingml/2006/main">
              <a:ext uri="{FF2B5EF4-FFF2-40B4-BE49-F238E27FC236}">
                <a16:creationId xmlns:a16="http://schemas.microsoft.com/office/drawing/2014/main" id="{0583FE83-DE9C-4A18-B62B-9748C341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1049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85FD07-8FB9-44E2-8CD7-77A8B082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295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15171E"/>
                </a:solidFill>
                <a:latin typeface="Aptos Display"/>
                <a:ea typeface="Aptos Display"/>
                <a:cs typeface="Aptos Display"/>
              </a:defRPr>
            </a:pPr>
            <a:r>
              <a:t>The Sun is the anchor</a:t>
            </a:r>
          </a:p>
        </p:txBody>
      </p:sp>
      <p:sp>
        <p:nvSpPr>
          <p:cNvPr id="4" name="rule-92-186">
            <a:extLst xmlns:a="http://schemas.openxmlformats.org/drawingml/2006/main">
              <a:ext uri="{FF2B5EF4-FFF2-40B4-BE49-F238E27FC236}">
                <a16:creationId xmlns:a16="http://schemas.microsoft.com/office/drawing/2014/main" id="{180343BD-1323-4482-8896-6C6B3D96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17716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5" name="sun-mass-number">
            <a:extLst xmlns:a="http://schemas.openxmlformats.org/drawingml/2006/main">
              <a:ext uri="{FF2B5EF4-FFF2-40B4-BE49-F238E27FC236}">
                <a16:creationId xmlns:a16="http://schemas.microsoft.com/office/drawing/2014/main" id="{D501B232-B0D8-465C-A705-1FBFE74F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71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0" b="1" i="0">
                <a:solidFill>
                  <a:srgbClr val="15171E"/>
                </a:solidFill>
                <a:latin typeface="Aptos Display"/>
                <a:ea typeface="Aptos Display"/>
                <a:cs typeface="Aptos Display"/>
              </a:defRPr>
            </a:pPr>
            <a:r>
              <a:t>99.8%</a:t>
            </a:r>
          </a:p>
        </p:txBody>
      </p:sp>
      <p:sp>
        <p:nvSpPr>
          <p:cNvPr id="6" name="sun-mass-caption">
            <a:extLst xmlns:a="http://schemas.openxmlformats.org/drawingml/2006/main">
              <a:ext uri="{FF2B5EF4-FFF2-40B4-BE49-F238E27FC236}">
                <a16:creationId xmlns:a16="http://schemas.microsoft.com/office/drawing/2014/main" id="{9F80E267-A587-4A6E-AA36-7D2460B3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344052"/>
                </a:solidFill>
                <a:latin typeface="Aptos"/>
                <a:ea typeface="Aptos"/>
                <a:cs typeface="Aptos"/>
              </a:defRPr>
            </a:pPr>
            <a:r>
              <a:t>of the solar system's mass is in the Sun.</a:t>
            </a:r>
          </a:p>
        </p:txBody>
      </p:sp>
      <p:sp>
        <p:nvSpPr>
          <p:cNvPr id="7" name="rule-100-610">
            <a:extLst xmlns:a="http://schemas.openxmlformats.org/drawingml/2006/main">
              <a:ext uri="{FF2B5EF4-FFF2-40B4-BE49-F238E27FC236}">
                <a16:creationId xmlns:a16="http://schemas.microsoft.com/office/drawing/2014/main" id="{685814FA-55B6-41E0-8A58-07C73CF4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8102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732F"/>
          </a:solidFill>
        </p:spPr>
      </p:sp>
      <p:sp>
        <p:nvSpPr>
          <p:cNvPr id="8" name="sun-anchor-head-1">
            <a:extLst xmlns:a="http://schemas.openxmlformats.org/drawingml/2006/main">
              <a:ext uri="{FF2B5EF4-FFF2-40B4-BE49-F238E27FC236}">
                <a16:creationId xmlns:a16="http://schemas.microsoft.com/office/drawing/2014/main" id="{5D1A3F5E-DF36-43D5-8763-9A5CF345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8642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5171E"/>
                </a:solidFill>
                <a:latin typeface="Aptos"/>
                <a:ea typeface="Aptos"/>
                <a:cs typeface="Aptos"/>
              </a:defRPr>
            </a:pPr>
            <a:r>
              <a:t>Fusion lights the worlds</a:t>
            </a:r>
          </a:p>
        </p:txBody>
      </p:sp>
      <p:sp>
        <p:nvSpPr>
          <p:cNvPr id="9" name="sun-anchor-body-1">
            <a:extLst xmlns:a="http://schemas.openxmlformats.org/drawingml/2006/main">
              <a:ext uri="{FF2B5EF4-FFF2-40B4-BE49-F238E27FC236}">
                <a16:creationId xmlns:a16="http://schemas.microsoft.com/office/drawing/2014/main" id="{972E6AC4-A619-46B8-9970-FA206DB5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0960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Energy from the Sun drives climates, seasons, and photosynthesis on Earth.</a:t>
            </a:r>
          </a:p>
        </p:txBody>
      </p:sp>
      <p:sp>
        <p:nvSpPr>
          <p:cNvPr id="10" name="rule-100-714">
            <a:extLst xmlns:a="http://schemas.openxmlformats.org/drawingml/2006/main">
              <a:ext uri="{FF2B5EF4-FFF2-40B4-BE49-F238E27FC236}">
                <a16:creationId xmlns:a16="http://schemas.microsoft.com/office/drawing/2014/main" id="{D0B50C44-4312-4BAD-A38E-4D5843F1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68008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6FF"/>
          </a:solidFill>
        </p:spPr>
      </p:sp>
      <p:sp>
        <p:nvSpPr>
          <p:cNvPr id="11" name="sun-anchor-head-2">
            <a:extLst xmlns:a="http://schemas.openxmlformats.org/drawingml/2006/main">
              <a:ext uri="{FF2B5EF4-FFF2-40B4-BE49-F238E27FC236}">
                <a16:creationId xmlns:a16="http://schemas.microsoft.com/office/drawing/2014/main" id="{4CC09465-F53A-44B5-92BC-D27A680D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67702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5171E"/>
                </a:solidFill>
                <a:latin typeface="Aptos"/>
                <a:ea typeface="Aptos"/>
                <a:cs typeface="Aptos"/>
              </a:defRPr>
            </a:pPr>
            <a:r>
              <a:t>Gravity sets the tempo</a:t>
            </a:r>
          </a:p>
        </p:txBody>
      </p:sp>
      <p:sp>
        <p:nvSpPr>
          <p:cNvPr id="12" name="sun-anchor-body-2">
            <a:extLst xmlns:a="http://schemas.openxmlformats.org/drawingml/2006/main">
              <a:ext uri="{FF2B5EF4-FFF2-40B4-BE49-F238E27FC236}">
                <a16:creationId xmlns:a16="http://schemas.microsoft.com/office/drawing/2014/main" id="{906FF738-6509-4253-B4EB-3B570B48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70866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Planets, moons, comets, and dust all move inside the Sun's dominant pull.</a:t>
            </a:r>
          </a:p>
        </p:txBody>
      </p:sp>
      <p:sp>
        <p:nvSpPr>
          <p:cNvPr id="13" name="rule-100-818">
            <a:extLst xmlns:a="http://schemas.openxmlformats.org/drawingml/2006/main">
              <a:ext uri="{FF2B5EF4-FFF2-40B4-BE49-F238E27FC236}">
                <a16:creationId xmlns:a16="http://schemas.microsoft.com/office/drawing/2014/main" id="{07D66E5F-5255-4991-BDBB-27751B80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77914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6FF"/>
          </a:solidFill>
        </p:spPr>
      </p:sp>
      <p:sp>
        <p:nvSpPr>
          <p:cNvPr id="14" name="sun-anchor-head-3">
            <a:extLst xmlns:a="http://schemas.openxmlformats.org/drawingml/2006/main">
              <a:ext uri="{FF2B5EF4-FFF2-40B4-BE49-F238E27FC236}">
                <a16:creationId xmlns:a16="http://schemas.microsoft.com/office/drawing/2014/main" id="{04F1CD71-AB8F-4282-B43A-8A556A90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766762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5171E"/>
                </a:solidFill>
                <a:latin typeface="Aptos"/>
                <a:ea typeface="Aptos"/>
                <a:cs typeface="Aptos"/>
              </a:defRPr>
            </a:pPr>
            <a:r>
              <a:t>Everything else is tiny</a:t>
            </a:r>
          </a:p>
        </p:txBody>
      </p:sp>
      <p:sp>
        <p:nvSpPr>
          <p:cNvPr id="15" name="sun-anchor-body-3">
            <a:extLst xmlns:a="http://schemas.openxmlformats.org/drawingml/2006/main">
              <a:ext uri="{FF2B5EF4-FFF2-40B4-BE49-F238E27FC236}">
                <a16:creationId xmlns:a16="http://schemas.microsoft.com/office/drawing/2014/main" id="{0D7358DC-F08E-4581-90C6-BD107606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80772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The planets are spectacular, but they are the thin outer punctuation.</a:t>
            </a:r>
          </a:p>
        </p:txBody>
      </p:sp>
      <p:sp>
        <p:nvSpPr>
          <p:cNvPr id="1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4B233B7-9DA7-4EBF-9B46-369212CF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753600"/>
            <a:ext cx="1352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Data: NASA Solar System Exploration. Image: NASA/SDO.</a:t>
            </a:r>
          </a:p>
        </p:txBody>
      </p:sp>
    </p:spTree>
    <p:extLst>
      <p:ext uri="{BB962C8B-B14F-4D97-AF65-F5344CB8AC3E}">
        <p14:creationId xmlns:p14="http://schemas.microsoft.com/office/powerpoint/2010/main" val="5256634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tar-26-0">
            <a:extLst xmlns:a="http://schemas.openxmlformats.org/drawingml/2006/main">
              <a:ext uri="{FF2B5EF4-FFF2-40B4-BE49-F238E27FC236}">
                <a16:creationId xmlns:a16="http://schemas.microsoft.com/office/drawing/2014/main" id="{650EF03D-DE6B-440D-A490-63CBB4F6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0707" y="4335743"/>
            <a:ext cx="27394" cy="273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2" name="star-26-1">
            <a:extLst xmlns:a="http://schemas.openxmlformats.org/drawingml/2006/main">
              <a:ext uri="{FF2B5EF4-FFF2-40B4-BE49-F238E27FC236}">
                <a16:creationId xmlns:a16="http://schemas.microsoft.com/office/drawing/2014/main" id="{73CA7419-2EA6-4C9A-8AAF-EDF486AC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0593" y="6637483"/>
            <a:ext cx="23786" cy="237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3" name="star-26-2">
            <a:extLst xmlns:a="http://schemas.openxmlformats.org/drawingml/2006/main">
              <a:ext uri="{FF2B5EF4-FFF2-40B4-BE49-F238E27FC236}">
                <a16:creationId xmlns:a16="http://schemas.microsoft.com/office/drawing/2014/main" id="{65880677-F4F2-4D07-8DE5-46F83647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96317" y="1091877"/>
            <a:ext cx="32541" cy="325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4" name="star-26-3">
            <a:extLst xmlns:a="http://schemas.openxmlformats.org/drawingml/2006/main">
              <a:ext uri="{FF2B5EF4-FFF2-40B4-BE49-F238E27FC236}">
                <a16:creationId xmlns:a16="http://schemas.microsoft.com/office/drawing/2014/main" id="{4115C104-2C4A-4F60-8773-A5EFA4C2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97934" y="5102866"/>
            <a:ext cx="33446" cy="334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5" name="star-26-4">
            <a:extLst xmlns:a="http://schemas.openxmlformats.org/drawingml/2006/main">
              <a:ext uri="{FF2B5EF4-FFF2-40B4-BE49-F238E27FC236}">
                <a16:creationId xmlns:a16="http://schemas.microsoft.com/office/drawing/2014/main" id="{EEC36885-5568-4952-A3F1-8FD46D6D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50014" y="1465592"/>
            <a:ext cx="33190" cy="331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6" name="star-26-5">
            <a:extLst xmlns:a="http://schemas.openxmlformats.org/drawingml/2006/main">
              <a:ext uri="{FF2B5EF4-FFF2-40B4-BE49-F238E27FC236}">
                <a16:creationId xmlns:a16="http://schemas.microsoft.com/office/drawing/2014/main" id="{F750204A-FD1A-4731-B0F6-E0F7A651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60267" y="8279555"/>
            <a:ext cx="25188" cy="251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7" name="star-26-6">
            <a:extLst xmlns:a="http://schemas.openxmlformats.org/drawingml/2006/main">
              <a:ext uri="{FF2B5EF4-FFF2-40B4-BE49-F238E27FC236}">
                <a16:creationId xmlns:a16="http://schemas.microsoft.com/office/drawing/2014/main" id="{5B66CB01-EBEC-4068-B67F-A521AA58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44322" y="8102246"/>
            <a:ext cx="51892" cy="518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8" name="star-26-7">
            <a:extLst xmlns:a="http://schemas.openxmlformats.org/drawingml/2006/main">
              <a:ext uri="{FF2B5EF4-FFF2-40B4-BE49-F238E27FC236}">
                <a16:creationId xmlns:a16="http://schemas.microsoft.com/office/drawing/2014/main" id="{C2973A6B-BF4C-4811-91E3-6B4FC2CA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3531" y="7247213"/>
            <a:ext cx="33761" cy="337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9" name="star-26-8">
            <a:extLst xmlns:a="http://schemas.openxmlformats.org/drawingml/2006/main">
              <a:ext uri="{FF2B5EF4-FFF2-40B4-BE49-F238E27FC236}">
                <a16:creationId xmlns:a16="http://schemas.microsoft.com/office/drawing/2014/main" id="{D43A22BB-917A-4503-904F-1C441CA6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2135" y="5928472"/>
            <a:ext cx="30675" cy="30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10" name="star-26-9">
            <a:extLst xmlns:a="http://schemas.openxmlformats.org/drawingml/2006/main">
              <a:ext uri="{FF2B5EF4-FFF2-40B4-BE49-F238E27FC236}">
                <a16:creationId xmlns:a16="http://schemas.microsoft.com/office/drawing/2014/main" id="{B008F001-B921-45A8-A28F-3B8BE197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1931" y="8854432"/>
            <a:ext cx="20737" cy="207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11" name="star-26-10">
            <a:extLst xmlns:a="http://schemas.openxmlformats.org/drawingml/2006/main">
              <a:ext uri="{FF2B5EF4-FFF2-40B4-BE49-F238E27FC236}">
                <a16:creationId xmlns:a16="http://schemas.microsoft.com/office/drawing/2014/main" id="{45646607-42B0-41A8-9B68-A7B1F17F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38937" y="6929306"/>
            <a:ext cx="28971" cy="289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12" name="star-26-11">
            <a:extLst xmlns:a="http://schemas.openxmlformats.org/drawingml/2006/main">
              <a:ext uri="{FF2B5EF4-FFF2-40B4-BE49-F238E27FC236}">
                <a16:creationId xmlns:a16="http://schemas.microsoft.com/office/drawing/2014/main" id="{E8A77E9C-C01E-4796-9580-3C11C8F2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30560" y="8071778"/>
            <a:ext cx="26778" cy="267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13" name="star-26-12">
            <a:extLst xmlns:a="http://schemas.openxmlformats.org/drawingml/2006/main">
              <a:ext uri="{FF2B5EF4-FFF2-40B4-BE49-F238E27FC236}">
                <a16:creationId xmlns:a16="http://schemas.microsoft.com/office/drawing/2014/main" id="{471C6A1F-2C12-4FCB-8169-D35826B0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59263" y="4470174"/>
            <a:ext cx="36501" cy="365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14" name="star-26-13">
            <a:extLst xmlns:a="http://schemas.openxmlformats.org/drawingml/2006/main">
              <a:ext uri="{FF2B5EF4-FFF2-40B4-BE49-F238E27FC236}">
                <a16:creationId xmlns:a16="http://schemas.microsoft.com/office/drawing/2014/main" id="{77E6BD55-A8A4-4334-84C8-D17AE830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15732" y="6290372"/>
            <a:ext cx="42948" cy="429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15" name="star-26-14">
            <a:extLst xmlns:a="http://schemas.openxmlformats.org/drawingml/2006/main">
              <a:ext uri="{FF2B5EF4-FFF2-40B4-BE49-F238E27FC236}">
                <a16:creationId xmlns:a16="http://schemas.microsoft.com/office/drawing/2014/main" id="{C1202E47-5426-43B2-9A00-71A5EB24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040" y="3152474"/>
            <a:ext cx="37627" cy="376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16" name="star-26-15">
            <a:extLst xmlns:a="http://schemas.openxmlformats.org/drawingml/2006/main">
              <a:ext uri="{FF2B5EF4-FFF2-40B4-BE49-F238E27FC236}">
                <a16:creationId xmlns:a16="http://schemas.microsoft.com/office/drawing/2014/main" id="{BE23A4F4-8299-4088-BF0A-9777621A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3365" y="3070359"/>
            <a:ext cx="33505" cy="335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17" name="star-26-16">
            <a:extLst xmlns:a="http://schemas.openxmlformats.org/drawingml/2006/main">
              <a:ext uri="{FF2B5EF4-FFF2-40B4-BE49-F238E27FC236}">
                <a16:creationId xmlns:a16="http://schemas.microsoft.com/office/drawing/2014/main" id="{FD852580-4250-4329-8900-B3D4A6A7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06528" y="7619293"/>
            <a:ext cx="43302" cy="433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18" name="star-26-17">
            <a:extLst xmlns:a="http://schemas.openxmlformats.org/drawingml/2006/main">
              <a:ext uri="{FF2B5EF4-FFF2-40B4-BE49-F238E27FC236}">
                <a16:creationId xmlns:a16="http://schemas.microsoft.com/office/drawing/2014/main" id="{89BD4602-029E-4E27-B4D2-E3612873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74864" y="8173214"/>
            <a:ext cx="21225" cy="21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19" name="star-26-18">
            <a:extLst xmlns:a="http://schemas.openxmlformats.org/drawingml/2006/main">
              <a:ext uri="{FF2B5EF4-FFF2-40B4-BE49-F238E27FC236}">
                <a16:creationId xmlns:a16="http://schemas.microsoft.com/office/drawing/2014/main" id="{4D9DC669-FE77-4065-ABEE-8E6A700F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8503" y="4625114"/>
            <a:ext cx="45918" cy="45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20" name="star-26-19">
            <a:extLst xmlns:a="http://schemas.openxmlformats.org/drawingml/2006/main">
              <a:ext uri="{FF2B5EF4-FFF2-40B4-BE49-F238E27FC236}">
                <a16:creationId xmlns:a16="http://schemas.microsoft.com/office/drawing/2014/main" id="{DA19A2A1-3CCD-4BC2-8A9C-BC85352A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295" y="3288539"/>
            <a:ext cx="37842" cy="378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21" name="star-26-20">
            <a:extLst xmlns:a="http://schemas.openxmlformats.org/drawingml/2006/main">
              <a:ext uri="{FF2B5EF4-FFF2-40B4-BE49-F238E27FC236}">
                <a16:creationId xmlns:a16="http://schemas.microsoft.com/office/drawing/2014/main" id="{D9C3BB51-EC6D-4116-8F89-4A9CA2E1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0983" y="4377507"/>
            <a:ext cx="20679" cy="206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22" name="star-26-21">
            <a:extLst xmlns:a="http://schemas.openxmlformats.org/drawingml/2006/main">
              <a:ext uri="{FF2B5EF4-FFF2-40B4-BE49-F238E27FC236}">
                <a16:creationId xmlns:a16="http://schemas.microsoft.com/office/drawing/2014/main" id="{601084ED-A451-400E-B168-61FA83A9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0362" y="3932675"/>
            <a:ext cx="44925" cy="44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23" name="star-26-22">
            <a:extLst xmlns:a="http://schemas.openxmlformats.org/drawingml/2006/main">
              <a:ext uri="{FF2B5EF4-FFF2-40B4-BE49-F238E27FC236}">
                <a16:creationId xmlns:a16="http://schemas.microsoft.com/office/drawing/2014/main" id="{BB33C5F2-2EC9-47CF-8D41-42129958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54957" y="5007932"/>
            <a:ext cx="38179" cy="381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24" name="star-26-23">
            <a:extLst xmlns:a="http://schemas.openxmlformats.org/drawingml/2006/main">
              <a:ext uri="{FF2B5EF4-FFF2-40B4-BE49-F238E27FC236}">
                <a16:creationId xmlns:a16="http://schemas.microsoft.com/office/drawing/2014/main" id="{4047697C-1C3C-4C0E-86CB-1D66463F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5085" y="6765708"/>
            <a:ext cx="45258" cy="452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25" name="star-26-24">
            <a:extLst xmlns:a="http://schemas.openxmlformats.org/drawingml/2006/main">
              <a:ext uri="{FF2B5EF4-FFF2-40B4-BE49-F238E27FC236}">
                <a16:creationId xmlns:a16="http://schemas.microsoft.com/office/drawing/2014/main" id="{715702A2-4584-4E8F-B035-ABC9A22A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0756" y="3736714"/>
            <a:ext cx="34891" cy="348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26" name="star-26-25">
            <a:extLst xmlns:a="http://schemas.openxmlformats.org/drawingml/2006/main">
              <a:ext uri="{FF2B5EF4-FFF2-40B4-BE49-F238E27FC236}">
                <a16:creationId xmlns:a16="http://schemas.microsoft.com/office/drawing/2014/main" id="{C8915BDF-391A-450D-9780-16981739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9539" y="1169533"/>
            <a:ext cx="44465" cy="44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27" name="star-26-26">
            <a:extLst xmlns:a="http://schemas.openxmlformats.org/drawingml/2006/main">
              <a:ext uri="{FF2B5EF4-FFF2-40B4-BE49-F238E27FC236}">
                <a16:creationId xmlns:a16="http://schemas.microsoft.com/office/drawing/2014/main" id="{95906448-C1A2-4036-9491-D6C3F184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2273" y="5522283"/>
            <a:ext cx="35570" cy="35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28" name="star-26-27">
            <a:extLst xmlns:a="http://schemas.openxmlformats.org/drawingml/2006/main">
              <a:ext uri="{FF2B5EF4-FFF2-40B4-BE49-F238E27FC236}">
                <a16:creationId xmlns:a16="http://schemas.microsoft.com/office/drawing/2014/main" id="{21569CED-DA13-4853-B11F-A141F70D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81921" y="3204789"/>
            <a:ext cx="42612" cy="426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29" name="star-26-28">
            <a:extLst xmlns:a="http://schemas.openxmlformats.org/drawingml/2006/main">
              <a:ext uri="{FF2B5EF4-FFF2-40B4-BE49-F238E27FC236}">
                <a16:creationId xmlns:a16="http://schemas.microsoft.com/office/drawing/2014/main" id="{994EF9E0-C048-46B3-9006-6FACAAEE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7167" y="7272182"/>
            <a:ext cx="26269" cy="262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30" name="star-26-29">
            <a:extLst xmlns:a="http://schemas.openxmlformats.org/drawingml/2006/main">
              <a:ext uri="{FF2B5EF4-FFF2-40B4-BE49-F238E27FC236}">
                <a16:creationId xmlns:a16="http://schemas.microsoft.com/office/drawing/2014/main" id="{A3E1FBE7-973C-4F95-B272-6E6F1011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29924" y="1369543"/>
            <a:ext cx="30824" cy="308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31" name="star-26-30">
            <a:extLst xmlns:a="http://schemas.openxmlformats.org/drawingml/2006/main">
              <a:ext uri="{FF2B5EF4-FFF2-40B4-BE49-F238E27FC236}">
                <a16:creationId xmlns:a16="http://schemas.microsoft.com/office/drawing/2014/main" id="{2F174581-CF49-42C7-8339-ADC2D3F4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19023" y="7583474"/>
            <a:ext cx="27550" cy="27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32" name="star-26-31">
            <a:extLst xmlns:a="http://schemas.openxmlformats.org/drawingml/2006/main">
              <a:ext uri="{FF2B5EF4-FFF2-40B4-BE49-F238E27FC236}">
                <a16:creationId xmlns:a16="http://schemas.microsoft.com/office/drawing/2014/main" id="{12FA2161-E614-4195-80CD-E473FDCD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464" y="5711853"/>
            <a:ext cx="50754" cy="507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33" name="star-26-32">
            <a:extLst xmlns:a="http://schemas.openxmlformats.org/drawingml/2006/main">
              <a:ext uri="{FF2B5EF4-FFF2-40B4-BE49-F238E27FC236}">
                <a16:creationId xmlns:a16="http://schemas.microsoft.com/office/drawing/2014/main" id="{8DBE6A33-89F7-488F-8041-60EC2190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01911" y="3697552"/>
            <a:ext cx="34038" cy="340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34" name="star-26-33">
            <a:extLst xmlns:a="http://schemas.openxmlformats.org/drawingml/2006/main">
              <a:ext uri="{FF2B5EF4-FFF2-40B4-BE49-F238E27FC236}">
                <a16:creationId xmlns:a16="http://schemas.microsoft.com/office/drawing/2014/main" id="{4C9DCE96-DE63-452C-9A8A-C0A0143D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3494" y="4322813"/>
            <a:ext cx="31920" cy="31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35" name="star-26-34">
            <a:extLst xmlns:a="http://schemas.openxmlformats.org/drawingml/2006/main">
              <a:ext uri="{FF2B5EF4-FFF2-40B4-BE49-F238E27FC236}">
                <a16:creationId xmlns:a16="http://schemas.microsoft.com/office/drawing/2014/main" id="{E6F5C9A2-CAAB-4982-99F1-ECFE7356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4064" y="8122682"/>
            <a:ext cx="49314" cy="493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36" name="star-26-35">
            <a:extLst xmlns:a="http://schemas.openxmlformats.org/drawingml/2006/main">
              <a:ext uri="{FF2B5EF4-FFF2-40B4-BE49-F238E27FC236}">
                <a16:creationId xmlns:a16="http://schemas.microsoft.com/office/drawing/2014/main" id="{5BEBC321-399B-4D75-882A-D625FDBA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34863" y="864928"/>
            <a:ext cx="49579" cy="495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7FF"/>
          </a:solidFill>
        </p:spPr>
      </p:sp>
      <p:sp>
        <p:nvSpPr>
          <p:cNvPr id="3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DFDB51-19F6-4AA0-ABC0-413D14F8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885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Eight planets, two families</a:t>
            </a:r>
          </a:p>
        </p:txBody>
      </p:sp>
      <p:sp>
        <p:nvSpPr>
          <p:cNvPr id="3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B828E9B-1A87-4376-ACC5-64687024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C5D0DE"/>
                </a:solidFill>
                <a:latin typeface="Aptos"/>
                <a:ea typeface="Aptos"/>
                <a:cs typeface="Aptos"/>
              </a:defRPr>
            </a:pPr>
            <a:r>
              <a:t>Small rocky worlds close to the heat. Giant worlds where gas, ice, rings, and moons take over.</a:t>
            </a:r>
          </a:p>
        </p:txBody>
      </p:sp>
      <p:sp>
        <p:nvSpPr>
          <p:cNvPr id="39" name="rule-96-250">
            <a:extLst xmlns:a="http://schemas.openxmlformats.org/drawingml/2006/main">
              <a:ext uri="{FF2B5EF4-FFF2-40B4-BE49-F238E27FC236}">
                <a16:creationId xmlns:a16="http://schemas.microsoft.com/office/drawing/2014/main" id="{B929D4A0-9DE0-4F9B-935E-DAA46A1C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381250"/>
            <a:ext cx="657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40" name="rule-982-250">
            <a:extLst xmlns:a="http://schemas.openxmlformats.org/drawingml/2006/main">
              <a:ext uri="{FF2B5EF4-FFF2-40B4-BE49-F238E27FC236}">
                <a16:creationId xmlns:a16="http://schemas.microsoft.com/office/drawing/2014/main" id="{58735520-8D52-4B56-8DD3-E24F89CA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2381250"/>
            <a:ext cx="723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6FF"/>
          </a:solidFill>
        </p:spPr>
      </p:sp>
      <p:sp>
        <p:nvSpPr>
          <p:cNvPr id="41" name="group-inner">
            <a:extLst xmlns:a="http://schemas.openxmlformats.org/drawingml/2006/main">
              <a:ext uri="{FF2B5EF4-FFF2-40B4-BE49-F238E27FC236}">
                <a16:creationId xmlns:a16="http://schemas.microsoft.com/office/drawing/2014/main" id="{EFBE52BA-7150-4DD3-8954-5FC6E7A9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t>Rocky inner worlds</a:t>
            </a:r>
          </a:p>
        </p:txBody>
      </p:sp>
      <p:sp>
        <p:nvSpPr>
          <p:cNvPr id="42" name="group-outer">
            <a:extLst xmlns:a="http://schemas.openxmlformats.org/drawingml/2006/main">
              <a:ext uri="{FF2B5EF4-FFF2-40B4-BE49-F238E27FC236}">
                <a16:creationId xmlns:a16="http://schemas.microsoft.com/office/drawing/2014/main" id="{1D3BE6AD-94D6-472D-806D-1ACA6688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289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49B6FF"/>
                </a:solidFill>
                <a:latin typeface="Aptos"/>
                <a:ea typeface="Aptos"/>
                <a:cs typeface="Aptos"/>
              </a:defRPr>
            </a:pPr>
            <a:r>
              <a:t>Gas and ice giants</a:t>
            </a:r>
          </a:p>
        </p:txBody>
      </p:sp>
      <p:pic>
        <p:nvPicPr>
          <p:cNvPr id="43" name="mercury-portrai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8195e979e4862"/>
          <a:stretch xmlns:a="http://schemas.openxmlformats.org/drawingml/2006/main"/>
        </p:blipFill>
        <p:spPr>
          <a:xfrm xmlns:a="http://schemas.openxmlformats.org/drawingml/2006/main">
            <a:off x="1066800" y="373380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44" name="mercury-label">
            <a:extLst xmlns:a="http://schemas.openxmlformats.org/drawingml/2006/main">
              <a:ext uri="{FF2B5EF4-FFF2-40B4-BE49-F238E27FC236}">
                <a16:creationId xmlns:a16="http://schemas.microsoft.com/office/drawing/2014/main" id="{6AC9C7FE-A072-4B14-87D0-E941ECC7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Mercury</a:t>
            </a:r>
          </a:p>
        </p:txBody>
      </p:sp>
      <p:pic>
        <p:nvPicPr>
          <p:cNvPr id="45" name="venus-portrai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66405f5b34a81"/>
          <a:stretch xmlns:a="http://schemas.openxmlformats.org/drawingml/2006/main"/>
        </p:blipFill>
        <p:spPr>
          <a:xfrm xmlns:a="http://schemas.openxmlformats.org/drawingml/2006/main">
            <a:off x="2876550" y="3524250"/>
            <a:ext cx="1562100" cy="1562100"/>
          </a:xfrm>
          <a:prstGeom xmlns:a="http://schemas.openxmlformats.org/drawingml/2006/main" prst="rect">
            <a:avLst/>
          </a:prstGeom>
        </p:spPr>
      </p:pic>
      <p:sp>
        <p:nvSpPr>
          <p:cNvPr id="46" name="venus-label">
            <a:extLst xmlns:a="http://schemas.openxmlformats.org/drawingml/2006/main">
              <a:ext uri="{FF2B5EF4-FFF2-40B4-BE49-F238E27FC236}">
                <a16:creationId xmlns:a16="http://schemas.microsoft.com/office/drawing/2014/main" id="{0A3A5184-C725-4742-8CD6-7B2CD185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578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Venus</a:t>
            </a:r>
          </a:p>
        </p:txBody>
      </p:sp>
      <p:pic>
        <p:nvPicPr>
          <p:cNvPr id="47" name="earth-portrai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b15ebf58946b4"/>
          <a:stretch xmlns:a="http://schemas.openxmlformats.org/drawingml/2006/main"/>
        </p:blipFill>
        <p:spPr>
          <a:xfrm xmlns:a="http://schemas.openxmlformats.org/drawingml/2006/main">
            <a:off x="5143500" y="3390900"/>
            <a:ext cx="1752600" cy="1752600"/>
          </a:xfrm>
          <a:prstGeom xmlns:a="http://schemas.openxmlformats.org/drawingml/2006/main" prst="rect">
            <a:avLst/>
          </a:prstGeom>
        </p:spPr>
      </p:pic>
      <p:sp>
        <p:nvSpPr>
          <p:cNvPr id="48" name="earth-label">
            <a:extLst xmlns:a="http://schemas.openxmlformats.org/drawingml/2006/main">
              <a:ext uri="{FF2B5EF4-FFF2-40B4-BE49-F238E27FC236}">
                <a16:creationId xmlns:a16="http://schemas.microsoft.com/office/drawing/2014/main" id="{E73ACB50-253F-42E9-BABE-1F23FA90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149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Earth</a:t>
            </a:r>
          </a:p>
        </p:txBody>
      </p:sp>
      <p:pic>
        <p:nvPicPr>
          <p:cNvPr id="49" name="mars-portrai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84f8538f643a8"/>
          <a:stretch xmlns:a="http://schemas.openxmlformats.org/drawingml/2006/main"/>
        </p:blipFill>
        <p:spPr>
          <a:xfrm xmlns:a="http://schemas.openxmlformats.org/drawingml/2006/main">
            <a:off x="7639050" y="367665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50" name="mars-label">
            <a:extLst xmlns:a="http://schemas.openxmlformats.org/drawingml/2006/main">
              <a:ext uri="{FF2B5EF4-FFF2-40B4-BE49-F238E27FC236}">
                <a16:creationId xmlns:a16="http://schemas.microsoft.com/office/drawing/2014/main" id="{17FE11AE-A62A-4C64-8178-DF3FAA41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81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Mars</a:t>
            </a:r>
          </a:p>
        </p:txBody>
      </p:sp>
      <p:pic>
        <p:nvPicPr>
          <p:cNvPr id="51" name="jupiter-portrai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68fd2732f48c7"/>
          <a:stretch xmlns:a="http://schemas.openxmlformats.org/drawingml/2006/main"/>
        </p:blipFill>
        <p:spPr>
          <a:xfrm xmlns:a="http://schemas.openxmlformats.org/drawingml/2006/main">
            <a:off x="9906000" y="3028950"/>
            <a:ext cx="2667000" cy="2667000"/>
          </a:xfrm>
          <a:prstGeom xmlns:a="http://schemas.openxmlformats.org/drawingml/2006/main" prst="rect">
            <a:avLst/>
          </a:prstGeom>
        </p:spPr>
      </p:pic>
      <p:sp>
        <p:nvSpPr>
          <p:cNvPr id="52" name="jupiter-label">
            <a:extLst xmlns:a="http://schemas.openxmlformats.org/drawingml/2006/main">
              <a:ext uri="{FF2B5EF4-FFF2-40B4-BE49-F238E27FC236}">
                <a16:creationId xmlns:a16="http://schemas.microsoft.com/office/drawing/2014/main" id="{C897D9C1-F901-4039-B012-DBDEABDD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67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Jupiter</a:t>
            </a:r>
          </a:p>
        </p:txBody>
      </p:sp>
      <p:pic>
        <p:nvPicPr>
          <p:cNvPr id="53" name="saturn-portrai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072c1dd164d7c"/>
          <a:stretch xmlns:a="http://schemas.openxmlformats.org/drawingml/2006/main"/>
        </p:blipFill>
        <p:spPr>
          <a:xfrm xmlns:a="http://schemas.openxmlformats.org/drawingml/2006/main">
            <a:off x="12573000" y="4179342"/>
            <a:ext cx="2952750" cy="1147266"/>
          </a:xfrm>
          <a:prstGeom xmlns:a="http://schemas.openxmlformats.org/drawingml/2006/main" prst="rect">
            <a:avLst/>
          </a:prstGeom>
        </p:spPr>
      </p:pic>
      <p:sp>
        <p:nvSpPr>
          <p:cNvPr id="54" name="saturn-label">
            <a:extLst xmlns:a="http://schemas.openxmlformats.org/drawingml/2006/main">
              <a:ext uri="{FF2B5EF4-FFF2-40B4-BE49-F238E27FC236}">
                <a16:creationId xmlns:a16="http://schemas.microsoft.com/office/drawing/2014/main" id="{26F9C03B-CA17-428C-ACFE-DB06D6C7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400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Saturn</a:t>
            </a:r>
          </a:p>
        </p:txBody>
      </p:sp>
      <p:pic>
        <p:nvPicPr>
          <p:cNvPr id="55" name="uranus-portrai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114873eb74acf"/>
          <a:stretch xmlns:a="http://schemas.openxmlformats.org/drawingml/2006/main"/>
        </p:blipFill>
        <p:spPr>
          <a:xfrm xmlns:a="http://schemas.openxmlformats.org/drawingml/2006/main">
            <a:off x="15563850" y="400050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56" name="uranus-label">
            <a:extLst xmlns:a="http://schemas.openxmlformats.org/drawingml/2006/main">
              <a:ext uri="{FF2B5EF4-FFF2-40B4-BE49-F238E27FC236}">
                <a16:creationId xmlns:a16="http://schemas.microsoft.com/office/drawing/2014/main" id="{DCC634A2-5360-4397-960B-2FB3B4E1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3350" y="5600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Uranus</a:t>
            </a:r>
          </a:p>
        </p:txBody>
      </p:sp>
      <p:pic>
        <p:nvPicPr>
          <p:cNvPr id="57" name="neptune-portrai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90ba228fd4b51"/>
          <a:stretch xmlns:a="http://schemas.openxmlformats.org/drawingml/2006/main"/>
        </p:blipFill>
        <p:spPr>
          <a:xfrm xmlns:a="http://schemas.openxmlformats.org/drawingml/2006/main">
            <a:off x="16859250" y="4001616"/>
            <a:ext cx="1428750" cy="1426518"/>
          </a:xfrm>
          <a:prstGeom xmlns:a="http://schemas.openxmlformats.org/drawingml/2006/main" prst="rect">
            <a:avLst/>
          </a:prstGeom>
        </p:spPr>
      </p:pic>
      <p:sp>
        <p:nvSpPr>
          <p:cNvPr id="58" name="neptune-label">
            <a:extLst xmlns:a="http://schemas.openxmlformats.org/drawingml/2006/main">
              <a:ext uri="{FF2B5EF4-FFF2-40B4-BE49-F238E27FC236}">
                <a16:creationId xmlns:a16="http://schemas.microsoft.com/office/drawing/2014/main" id="{0C14C13D-267E-4D4C-8027-20BC1FCA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5600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Neptune</a:t>
            </a:r>
          </a:p>
        </p:txBody>
      </p:sp>
      <p:sp>
        <p:nvSpPr>
          <p:cNvPr id="59" name="scale-note">
            <a:extLst xmlns:a="http://schemas.openxmlformats.org/drawingml/2006/main">
              <a:ext uri="{FF2B5EF4-FFF2-40B4-BE49-F238E27FC236}">
                <a16:creationId xmlns:a16="http://schemas.microsoft.com/office/drawing/2014/main" id="{7CE9F882-70A1-483A-9850-62B0F825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8724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8794A8"/>
                </a:solidFill>
                <a:latin typeface="Aptos"/>
                <a:ea typeface="Aptos"/>
                <a:cs typeface="Aptos"/>
              </a:defRPr>
            </a:pPr>
            <a:r>
              <a:t>Not to scale</a:t>
            </a:r>
          </a:p>
        </p:txBody>
      </p:sp>
      <p:sp>
        <p:nvSpPr>
          <p:cNvPr id="6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FC7671D-B4BC-49A8-B4E8-14246BDB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753600"/>
            <a:ext cx="1352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794A8"/>
                </a:solidFill>
                <a:latin typeface="Aptos"/>
                <a:ea typeface="Aptos"/>
                <a:cs typeface="Aptos"/>
              </a:defRPr>
            </a:pPr>
            <a:r>
              <a:t>Planet portraits: NASA/JPL/GSFC. Layout groups by composition, not physical scale.</a:t>
            </a:r>
          </a:p>
        </p:txBody>
      </p:sp>
    </p:spTree>
    <p:extLst>
      <p:ext uri="{BB962C8B-B14F-4D97-AF65-F5344CB8AC3E}">
        <p14:creationId xmlns:p14="http://schemas.microsoft.com/office/powerpoint/2010/main" val="1193464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8E349D-1EDE-4069-8955-E552FA4B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15171E"/>
                </a:solidFill>
                <a:latin typeface="Aptos Display"/>
                <a:ea typeface="Aptos Display"/>
                <a:cs typeface="Aptos Display"/>
              </a:defRPr>
            </a:pPr>
            <a:r>
              <a:t>Distance is the trick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D1E929A-2108-4D44-BAD5-0AA0D2C2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t>Planet sizes are memorable. The empty space between them is the real scale lesson.</a:t>
            </a:r>
          </a:p>
        </p:txBody>
      </p:sp>
      <p:graphicFrame>
        <p:nvGraphicFramePr>
          <p:cNvPr id="3" name="distance-chart"/>
          <p:cNvGraphicFramePr/>
          <p:nvPr/>
        </p:nvGraphicFramePr>
        <p:xfrm>
          <a:off xmlns:a="http://schemas.openxmlformats.org/drawingml/2006/main" x="800100" y="2724150"/>
          <a:ext xmlns:a="http://schemas.openxmlformats.org/drawingml/2006/main" cx="11811000" cy="561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518a6813e9438d"/>
          </a:graphicData>
        </a:graphic>
      </p:graphicFrame>
      <p:sp>
        <p:nvSpPr>
          <p:cNvPr id="4" name="distance-big-number">
            <a:extLst xmlns:a="http://schemas.openxmlformats.org/drawingml/2006/main">
              <a:ext uri="{FF2B5EF4-FFF2-40B4-BE49-F238E27FC236}">
                <a16:creationId xmlns:a16="http://schemas.microsoft.com/office/drawing/2014/main" id="{B64437FE-6F61-4E8B-8272-7DA1F16E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323850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0" b="1" i="0">
                <a:solidFill>
                  <a:srgbClr val="15171E"/>
                </a:solidFill>
                <a:latin typeface="Aptos Display"/>
                <a:ea typeface="Aptos Display"/>
                <a:cs typeface="Aptos Display"/>
              </a:defRPr>
            </a:pPr>
            <a:r>
              <a:t>30x</a:t>
            </a:r>
          </a:p>
        </p:txBody>
      </p:sp>
      <p:sp>
        <p:nvSpPr>
          <p:cNvPr id="5" name="distance-callout">
            <a:extLst xmlns:a="http://schemas.openxmlformats.org/drawingml/2006/main">
              <a:ext uri="{FF2B5EF4-FFF2-40B4-BE49-F238E27FC236}">
                <a16:creationId xmlns:a16="http://schemas.microsoft.com/office/drawing/2014/main" id="{4B12FBA6-3DDF-4E94-BAF4-9CC4D81E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462915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3D4758"/>
                </a:solidFill>
                <a:latin typeface="Aptos"/>
                <a:ea typeface="Aptos"/>
                <a:cs typeface="Aptos"/>
              </a:defRPr>
            </a:pPr>
            <a:r>
              <a:t>Neptune orbits about thirty times farther from the Sun than Earth.</a:t>
            </a:r>
          </a:p>
        </p:txBody>
      </p:sp>
      <p:sp>
        <p:nvSpPr>
          <p:cNvPr id="6" name="rule-1438-666">
            <a:extLst xmlns:a="http://schemas.openxmlformats.org/drawingml/2006/main">
              <a:ext uri="{FF2B5EF4-FFF2-40B4-BE49-F238E27FC236}">
                <a16:creationId xmlns:a16="http://schemas.microsoft.com/office/drawing/2014/main" id="{CEB2A88F-DD52-463C-B2C1-2ED1C4DD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96950" y="63436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7" name="distance-landing">
            <a:extLst xmlns:a="http://schemas.openxmlformats.org/drawingml/2006/main">
              <a:ext uri="{FF2B5EF4-FFF2-40B4-BE49-F238E27FC236}">
                <a16:creationId xmlns:a16="http://schemas.microsoft.com/office/drawing/2014/main" id="{37744601-DB9B-46AD-A591-885E89A6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67056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1732F"/>
                </a:solidFill>
                <a:latin typeface="Aptos"/>
                <a:ea typeface="Aptos"/>
                <a:cs typeface="Aptos"/>
              </a:defRPr>
            </a:pPr>
            <a:r>
              <a:t>The solar system is mostly distance with bright punctuation.</a:t>
            </a:r>
          </a:p>
        </p:txBody>
      </p:sp>
      <p:sp>
        <p:nvSpPr>
          <p:cNvPr id="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24F32397-A3F3-42EC-9C16-F8606CAC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753600"/>
            <a:ext cx="1352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Data: NASA Solar System Exploration; values rounded in astronomical units.</a:t>
            </a:r>
          </a:p>
        </p:txBody>
      </p:sp>
    </p:spTree>
    <p:extLst>
      <p:ext uri="{BB962C8B-B14F-4D97-AF65-F5344CB8AC3E}">
        <p14:creationId xmlns:p14="http://schemas.microsoft.com/office/powerpoint/2010/main" val="19790572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tar-33-0">
            <a:extLst xmlns:a="http://schemas.openxmlformats.org/drawingml/2006/main">
              <a:ext uri="{FF2B5EF4-FFF2-40B4-BE49-F238E27FC236}">
                <a16:creationId xmlns:a16="http://schemas.microsoft.com/office/drawing/2014/main" id="{EAB309DE-EFEE-4B8B-B1E5-68523493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2603" y="3047434"/>
            <a:ext cx="47978" cy="479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2" name="star-33-1">
            <a:extLst xmlns:a="http://schemas.openxmlformats.org/drawingml/2006/main">
              <a:ext uri="{FF2B5EF4-FFF2-40B4-BE49-F238E27FC236}">
                <a16:creationId xmlns:a16="http://schemas.microsoft.com/office/drawing/2014/main" id="{D7AE5291-0FFC-48FA-B063-2A1E661C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1888" y="4602003"/>
            <a:ext cx="53176" cy="53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3" name="star-33-2">
            <a:extLst xmlns:a="http://schemas.openxmlformats.org/drawingml/2006/main">
              <a:ext uri="{FF2B5EF4-FFF2-40B4-BE49-F238E27FC236}">
                <a16:creationId xmlns:a16="http://schemas.microsoft.com/office/drawing/2014/main" id="{2C4B4EE8-C808-447B-AA29-7D4C92C1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2647" y="5494787"/>
            <a:ext cx="53515" cy="535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4" name="star-33-3">
            <a:extLst xmlns:a="http://schemas.openxmlformats.org/drawingml/2006/main">
              <a:ext uri="{FF2B5EF4-FFF2-40B4-BE49-F238E27FC236}">
                <a16:creationId xmlns:a16="http://schemas.microsoft.com/office/drawing/2014/main" id="{4F3080F8-BAA9-444B-BFBD-7145A9AC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4920" y="5700594"/>
            <a:ext cx="47830" cy="478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5" name="star-33-4">
            <a:extLst xmlns:a="http://schemas.openxmlformats.org/drawingml/2006/main">
              <a:ext uri="{FF2B5EF4-FFF2-40B4-BE49-F238E27FC236}">
                <a16:creationId xmlns:a16="http://schemas.microsoft.com/office/drawing/2014/main" id="{64506688-15CF-4A53-AE89-EB67C27A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34205" y="2375430"/>
            <a:ext cx="44409" cy="44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6" name="star-33-5">
            <a:extLst xmlns:a="http://schemas.openxmlformats.org/drawingml/2006/main">
              <a:ext uri="{FF2B5EF4-FFF2-40B4-BE49-F238E27FC236}">
                <a16:creationId xmlns:a16="http://schemas.microsoft.com/office/drawing/2014/main" id="{AD0FD07C-3745-45D0-803B-81A7E42A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7848" y="2331884"/>
            <a:ext cx="54244" cy="542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7" name="star-33-6">
            <a:extLst xmlns:a="http://schemas.openxmlformats.org/drawingml/2006/main">
              <a:ext uri="{FF2B5EF4-FFF2-40B4-BE49-F238E27FC236}">
                <a16:creationId xmlns:a16="http://schemas.microsoft.com/office/drawing/2014/main" id="{5B83FE28-C42A-4AB5-9B61-01440FC5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9368" y="2252667"/>
            <a:ext cx="54099" cy="54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8" name="star-33-7">
            <a:extLst xmlns:a="http://schemas.openxmlformats.org/drawingml/2006/main">
              <a:ext uri="{FF2B5EF4-FFF2-40B4-BE49-F238E27FC236}">
                <a16:creationId xmlns:a16="http://schemas.microsoft.com/office/drawing/2014/main" id="{327B9306-28AB-4DD2-BF3B-B89CD653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0171" y="7167216"/>
            <a:ext cx="39506" cy="39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9" name="star-33-8">
            <a:extLst xmlns:a="http://schemas.openxmlformats.org/drawingml/2006/main">
              <a:ext uri="{FF2B5EF4-FFF2-40B4-BE49-F238E27FC236}">
                <a16:creationId xmlns:a16="http://schemas.microsoft.com/office/drawing/2014/main" id="{457D7C8A-AFB3-4964-A310-D901EBA9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5722" y="6374604"/>
            <a:ext cx="20743" cy="207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10" name="star-33-9">
            <a:extLst xmlns:a="http://schemas.openxmlformats.org/drawingml/2006/main">
              <a:ext uri="{FF2B5EF4-FFF2-40B4-BE49-F238E27FC236}">
                <a16:creationId xmlns:a16="http://schemas.microsoft.com/office/drawing/2014/main" id="{FBA7A44C-4DA8-4CBF-9C61-348DFA0E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5204" y="7151462"/>
            <a:ext cx="42941" cy="429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11" name="star-33-10">
            <a:extLst xmlns:a="http://schemas.openxmlformats.org/drawingml/2006/main">
              <a:ext uri="{FF2B5EF4-FFF2-40B4-BE49-F238E27FC236}">
                <a16:creationId xmlns:a16="http://schemas.microsoft.com/office/drawing/2014/main" id="{001F07BD-80B7-40EA-BED2-90CAE598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6693" y="4896390"/>
            <a:ext cx="49350" cy="49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12" name="star-33-11">
            <a:extLst xmlns:a="http://schemas.openxmlformats.org/drawingml/2006/main">
              <a:ext uri="{FF2B5EF4-FFF2-40B4-BE49-F238E27FC236}">
                <a16:creationId xmlns:a16="http://schemas.microsoft.com/office/drawing/2014/main" id="{84A535F8-D97F-4B6B-8532-3940375F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7318" y="2391630"/>
            <a:ext cx="22096" cy="220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13" name="star-33-12">
            <a:extLst xmlns:a="http://schemas.openxmlformats.org/drawingml/2006/main">
              <a:ext uri="{FF2B5EF4-FFF2-40B4-BE49-F238E27FC236}">
                <a16:creationId xmlns:a16="http://schemas.microsoft.com/office/drawing/2014/main" id="{FE8FD8ED-6398-4E76-8205-FAB207DA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29930" y="8839979"/>
            <a:ext cx="38485" cy="384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14" name="star-33-13">
            <a:extLst xmlns:a="http://schemas.openxmlformats.org/drawingml/2006/main">
              <a:ext uri="{FF2B5EF4-FFF2-40B4-BE49-F238E27FC236}">
                <a16:creationId xmlns:a16="http://schemas.microsoft.com/office/drawing/2014/main" id="{49831591-4FEF-4A73-B33F-94958088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79486" y="1606413"/>
            <a:ext cx="37148" cy="371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15" name="star-33-14">
            <a:extLst xmlns:a="http://schemas.openxmlformats.org/drawingml/2006/main">
              <a:ext uri="{FF2B5EF4-FFF2-40B4-BE49-F238E27FC236}">
                <a16:creationId xmlns:a16="http://schemas.microsoft.com/office/drawing/2014/main" id="{CA40115D-E8F9-48B4-9880-6BEEB8BE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5328" y="7796155"/>
            <a:ext cx="35476" cy="354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16" name="star-33-15">
            <a:extLst xmlns:a="http://schemas.openxmlformats.org/drawingml/2006/main">
              <a:ext uri="{FF2B5EF4-FFF2-40B4-BE49-F238E27FC236}">
                <a16:creationId xmlns:a16="http://schemas.microsoft.com/office/drawing/2014/main" id="{44A0EA06-728E-4E46-B55F-6A111B8C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2602" y="3998367"/>
            <a:ext cx="26506" cy="26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17" name="star-33-16">
            <a:extLst xmlns:a="http://schemas.openxmlformats.org/drawingml/2006/main">
              <a:ext uri="{FF2B5EF4-FFF2-40B4-BE49-F238E27FC236}">
                <a16:creationId xmlns:a16="http://schemas.microsoft.com/office/drawing/2014/main" id="{6EC66E2F-485E-4DE2-ACC9-BA45E9EB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882" y="2947150"/>
            <a:ext cx="25878" cy="258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18" name="star-33-17">
            <a:extLst xmlns:a="http://schemas.openxmlformats.org/drawingml/2006/main">
              <a:ext uri="{FF2B5EF4-FFF2-40B4-BE49-F238E27FC236}">
                <a16:creationId xmlns:a16="http://schemas.microsoft.com/office/drawing/2014/main" id="{8AAA4681-6B0A-4C14-A6C0-C6FDD4DB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45799" y="7424744"/>
            <a:ext cx="51911" cy="519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19" name="star-33-18">
            <a:extLst xmlns:a="http://schemas.openxmlformats.org/drawingml/2006/main">
              <a:ext uri="{FF2B5EF4-FFF2-40B4-BE49-F238E27FC236}">
                <a16:creationId xmlns:a16="http://schemas.microsoft.com/office/drawing/2014/main" id="{CA5D9AD2-5B72-4887-AEFF-E1378A28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2320" y="4433649"/>
            <a:ext cx="29525" cy="2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20" name="star-33-19">
            <a:extLst xmlns:a="http://schemas.openxmlformats.org/drawingml/2006/main">
              <a:ext uri="{FF2B5EF4-FFF2-40B4-BE49-F238E27FC236}">
                <a16:creationId xmlns:a16="http://schemas.microsoft.com/office/drawing/2014/main" id="{4AD868DA-CF86-47EE-92FD-FBBFC1D9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1206" y="3088157"/>
            <a:ext cx="37051" cy="370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21" name="star-33-20">
            <a:extLst xmlns:a="http://schemas.openxmlformats.org/drawingml/2006/main">
              <a:ext uri="{FF2B5EF4-FFF2-40B4-BE49-F238E27FC236}">
                <a16:creationId xmlns:a16="http://schemas.microsoft.com/office/drawing/2014/main" id="{785BF84A-8144-48FF-A81E-8CEA6438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96340" y="7592503"/>
            <a:ext cx="52472" cy="52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22" name="star-33-21">
            <a:extLst xmlns:a="http://schemas.openxmlformats.org/drawingml/2006/main">
              <a:ext uri="{FF2B5EF4-FFF2-40B4-BE49-F238E27FC236}">
                <a16:creationId xmlns:a16="http://schemas.microsoft.com/office/drawing/2014/main" id="{5D57FBB0-7EBE-4500-844F-9EDFC0B1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2406" y="7887819"/>
            <a:ext cx="48529" cy="48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23" name="star-33-22">
            <a:extLst xmlns:a="http://schemas.openxmlformats.org/drawingml/2006/main">
              <a:ext uri="{FF2B5EF4-FFF2-40B4-BE49-F238E27FC236}">
                <a16:creationId xmlns:a16="http://schemas.microsoft.com/office/drawing/2014/main" id="{71593328-DE92-4F2B-A080-7C4852FE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1978" y="8040456"/>
            <a:ext cx="40863" cy="408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24" name="star-33-23">
            <a:extLst xmlns:a="http://schemas.openxmlformats.org/drawingml/2006/main">
              <a:ext uri="{FF2B5EF4-FFF2-40B4-BE49-F238E27FC236}">
                <a16:creationId xmlns:a16="http://schemas.microsoft.com/office/drawing/2014/main" id="{0C4C6744-3FF4-4D66-B690-D0E5C852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4635" y="6054803"/>
            <a:ext cx="50938" cy="509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25" name="star-33-24">
            <a:extLst xmlns:a="http://schemas.openxmlformats.org/drawingml/2006/main">
              <a:ext uri="{FF2B5EF4-FFF2-40B4-BE49-F238E27FC236}">
                <a16:creationId xmlns:a16="http://schemas.microsoft.com/office/drawing/2014/main" id="{DD16A966-7E4B-4F19-955D-E52C91D7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5390" y="6688647"/>
            <a:ext cx="20230" cy="20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26" name="star-33-25">
            <a:extLst xmlns:a="http://schemas.openxmlformats.org/drawingml/2006/main">
              <a:ext uri="{FF2B5EF4-FFF2-40B4-BE49-F238E27FC236}">
                <a16:creationId xmlns:a16="http://schemas.microsoft.com/office/drawing/2014/main" id="{DB4F84F1-9200-41EE-87AC-579A60D3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17188" y="2535721"/>
            <a:ext cx="44463" cy="444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27" name="star-33-26">
            <a:extLst xmlns:a="http://schemas.openxmlformats.org/drawingml/2006/main">
              <a:ext uri="{FF2B5EF4-FFF2-40B4-BE49-F238E27FC236}">
                <a16:creationId xmlns:a16="http://schemas.microsoft.com/office/drawing/2014/main" id="{CB732AE5-2AC3-4E4D-9AA3-5240E8D9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044" y="7682124"/>
            <a:ext cx="22349" cy="223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28" name="star-33-27">
            <a:extLst xmlns:a="http://schemas.openxmlformats.org/drawingml/2006/main">
              <a:ext uri="{FF2B5EF4-FFF2-40B4-BE49-F238E27FC236}">
                <a16:creationId xmlns:a16="http://schemas.microsoft.com/office/drawing/2014/main" id="{C0F24A19-2735-4DB2-95AB-06AC23C7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0999" y="4767162"/>
            <a:ext cx="25109" cy="251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29" name="star-33-28">
            <a:extLst xmlns:a="http://schemas.openxmlformats.org/drawingml/2006/main">
              <a:ext uri="{FF2B5EF4-FFF2-40B4-BE49-F238E27FC236}">
                <a16:creationId xmlns:a16="http://schemas.microsoft.com/office/drawing/2014/main" id="{20C3DBC3-4FA7-4997-8A58-CEF25F43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4126" y="3635687"/>
            <a:ext cx="20123" cy="201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30" name="star-33-29">
            <a:extLst xmlns:a="http://schemas.openxmlformats.org/drawingml/2006/main">
              <a:ext uri="{FF2B5EF4-FFF2-40B4-BE49-F238E27FC236}">
                <a16:creationId xmlns:a16="http://schemas.microsoft.com/office/drawing/2014/main" id="{798515BB-51E9-402C-A816-FFA42DB3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55557" y="4180691"/>
            <a:ext cx="49843" cy="498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31" name="star-33-30">
            <a:extLst xmlns:a="http://schemas.openxmlformats.org/drawingml/2006/main">
              <a:ext uri="{FF2B5EF4-FFF2-40B4-BE49-F238E27FC236}">
                <a16:creationId xmlns:a16="http://schemas.microsoft.com/office/drawing/2014/main" id="{C6077059-DD02-4C25-9E3E-226B8FEC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7641" y="4047970"/>
            <a:ext cx="34729" cy="347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32" name="star-33-31">
            <a:extLst xmlns:a="http://schemas.openxmlformats.org/drawingml/2006/main">
              <a:ext uri="{FF2B5EF4-FFF2-40B4-BE49-F238E27FC236}">
                <a16:creationId xmlns:a16="http://schemas.microsoft.com/office/drawing/2014/main" id="{F656B869-8C73-4AD1-8694-0664EC6C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620" y="3451542"/>
            <a:ext cx="34659" cy="346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3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2C824D-FAF5-49F0-A24B-41F9A4A8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"/>
            <a:ext cx="1200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The inner worlds are four rocky experiments</a:t>
            </a:r>
          </a:p>
        </p:txBody>
      </p:sp>
      <p:sp>
        <p:nvSpPr>
          <p:cNvPr id="3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3B66E23-5E5B-41B7-90EF-B63CBE55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C5D0DE"/>
                </a:solidFill>
                <a:latin typeface="Aptos"/>
                <a:ea typeface="Aptos"/>
                <a:cs typeface="Aptos"/>
              </a:defRPr>
            </a:pPr>
            <a:r>
              <a:t>Same basic ingredients. Very different atmospheres, temperatures, and histories.</a:t>
            </a:r>
          </a:p>
        </p:txBody>
      </p:sp>
      <p:pic>
        <p:nvPicPr>
          <p:cNvPr id="35" name="inner-mercur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da856c73440b1"/>
          <a:stretch xmlns:a="http://schemas.openxmlformats.org/drawingml/2006/main"/>
        </p:blipFill>
        <p:spPr>
          <a:xfrm xmlns:a="http://schemas.openxmlformats.org/drawingml/2006/main">
            <a:off x="1066800" y="2895600"/>
            <a:ext cx="2628900" cy="2628900"/>
          </a:xfrm>
          <a:prstGeom xmlns:a="http://schemas.openxmlformats.org/drawingml/2006/main" prst="rect">
            <a:avLst/>
          </a:prstGeom>
        </p:spPr>
      </p:pic>
      <p:sp>
        <p:nvSpPr>
          <p:cNvPr id="36" name="rule-126-626">
            <a:extLst xmlns:a="http://schemas.openxmlformats.org/drawingml/2006/main">
              <a:ext uri="{FF2B5EF4-FFF2-40B4-BE49-F238E27FC236}">
                <a16:creationId xmlns:a16="http://schemas.microsoft.com/office/drawing/2014/main" id="{D2B4CFC5-B064-4BBC-B819-BCD8408E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59626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37" name="inner-mercury-label">
            <a:extLst xmlns:a="http://schemas.openxmlformats.org/drawingml/2006/main">
              <a:ext uri="{FF2B5EF4-FFF2-40B4-BE49-F238E27FC236}">
                <a16:creationId xmlns:a16="http://schemas.microsoft.com/office/drawing/2014/main" id="{7836D310-C13B-46C5-8DAE-2F06C2CA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4840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Mercury</a:t>
            </a:r>
          </a:p>
        </p:txBody>
      </p:sp>
      <p:sp>
        <p:nvSpPr>
          <p:cNvPr id="38" name="inner-mercury-note">
            <a:extLst xmlns:a="http://schemas.openxmlformats.org/drawingml/2006/main">
              <a:ext uri="{FF2B5EF4-FFF2-40B4-BE49-F238E27FC236}">
                <a16:creationId xmlns:a16="http://schemas.microsoft.com/office/drawing/2014/main" id="{E168A334-07AD-435F-A85E-20AE9D81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199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C5D0DE"/>
                </a:solidFill>
                <a:latin typeface="Aptos"/>
                <a:ea typeface="Aptos"/>
                <a:cs typeface="Aptos"/>
              </a:defRPr>
            </a:pPr>
            <a:r>
              <a:t>airless, cratered, extreme</a:t>
            </a:r>
          </a:p>
        </p:txBody>
      </p:sp>
      <p:pic>
        <p:nvPicPr>
          <p:cNvPr id="39" name="inner-venu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3e3d51f2a4845"/>
          <a:stretch xmlns:a="http://schemas.openxmlformats.org/drawingml/2006/main"/>
        </p:blipFill>
        <p:spPr>
          <a:xfrm xmlns:a="http://schemas.openxmlformats.org/drawingml/2006/main">
            <a:off x="4953000" y="2895600"/>
            <a:ext cx="2628900" cy="2628900"/>
          </a:xfrm>
          <a:prstGeom xmlns:a="http://schemas.openxmlformats.org/drawingml/2006/main" prst="rect">
            <a:avLst/>
          </a:prstGeom>
        </p:spPr>
      </p:pic>
      <p:sp>
        <p:nvSpPr>
          <p:cNvPr id="40" name="rule-534-626">
            <a:extLst xmlns:a="http://schemas.openxmlformats.org/drawingml/2006/main">
              <a:ext uri="{FF2B5EF4-FFF2-40B4-BE49-F238E27FC236}">
                <a16:creationId xmlns:a16="http://schemas.microsoft.com/office/drawing/2014/main" id="{FDD7F1C1-225C-43A1-BDBA-EC4EFEC9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59626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732F"/>
          </a:solidFill>
        </p:spPr>
      </p:sp>
      <p:sp>
        <p:nvSpPr>
          <p:cNvPr id="41" name="inner-venus-label">
            <a:extLst xmlns:a="http://schemas.openxmlformats.org/drawingml/2006/main">
              <a:ext uri="{FF2B5EF4-FFF2-40B4-BE49-F238E27FC236}">
                <a16:creationId xmlns:a16="http://schemas.microsoft.com/office/drawing/2014/main" id="{70BD218C-32F3-40EA-930C-E048C7ED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4840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Venus</a:t>
            </a:r>
          </a:p>
        </p:txBody>
      </p:sp>
      <p:sp>
        <p:nvSpPr>
          <p:cNvPr id="42" name="inner-venus-note">
            <a:extLst xmlns:a="http://schemas.openxmlformats.org/drawingml/2006/main">
              <a:ext uri="{FF2B5EF4-FFF2-40B4-BE49-F238E27FC236}">
                <a16:creationId xmlns:a16="http://schemas.microsoft.com/office/drawing/2014/main" id="{BA633791-90AD-4DA3-95AB-D98D62A7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8199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C5D0DE"/>
                </a:solidFill>
                <a:latin typeface="Aptos"/>
                <a:ea typeface="Aptos"/>
                <a:cs typeface="Aptos"/>
              </a:defRPr>
            </a:pPr>
            <a:r>
              <a:t>thick clouds, runaway greenhouse</a:t>
            </a:r>
          </a:p>
        </p:txBody>
      </p:sp>
      <p:pic>
        <p:nvPicPr>
          <p:cNvPr id="43" name="inner-earth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6923bf0894594"/>
          <a:stretch xmlns:a="http://schemas.openxmlformats.org/drawingml/2006/main"/>
        </p:blipFill>
        <p:spPr>
          <a:xfrm xmlns:a="http://schemas.openxmlformats.org/drawingml/2006/main">
            <a:off x="8953500" y="2895600"/>
            <a:ext cx="2628900" cy="2628900"/>
          </a:xfrm>
          <a:prstGeom xmlns:a="http://schemas.openxmlformats.org/drawingml/2006/main" prst="rect">
            <a:avLst/>
          </a:prstGeom>
        </p:spPr>
      </p:pic>
      <p:sp>
        <p:nvSpPr>
          <p:cNvPr id="44" name="rule-954-626">
            <a:extLst xmlns:a="http://schemas.openxmlformats.org/drawingml/2006/main">
              <a:ext uri="{FF2B5EF4-FFF2-40B4-BE49-F238E27FC236}">
                <a16:creationId xmlns:a16="http://schemas.microsoft.com/office/drawing/2014/main" id="{87BB41FA-6923-4574-9756-037F9550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6850" y="59626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45" name="inner-earth-label">
            <a:extLst xmlns:a="http://schemas.openxmlformats.org/drawingml/2006/main">
              <a:ext uri="{FF2B5EF4-FFF2-40B4-BE49-F238E27FC236}">
                <a16:creationId xmlns:a16="http://schemas.microsoft.com/office/drawing/2014/main" id="{4A5A3FA3-DAA4-4817-93C0-F3B76F30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4840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Earth</a:t>
            </a:r>
          </a:p>
        </p:txBody>
      </p:sp>
      <p:sp>
        <p:nvSpPr>
          <p:cNvPr id="46" name="inner-earth-note">
            <a:extLst xmlns:a="http://schemas.openxmlformats.org/drawingml/2006/main">
              <a:ext uri="{FF2B5EF4-FFF2-40B4-BE49-F238E27FC236}">
                <a16:creationId xmlns:a16="http://schemas.microsoft.com/office/drawing/2014/main" id="{012B36EB-856D-4F34-AECA-51209430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8199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C5D0DE"/>
                </a:solidFill>
                <a:latin typeface="Aptos"/>
                <a:ea typeface="Aptos"/>
                <a:cs typeface="Aptos"/>
              </a:defRPr>
            </a:pPr>
            <a:r>
              <a:t>liquid water and active life</a:t>
            </a:r>
          </a:p>
        </p:txBody>
      </p:sp>
      <p:pic>
        <p:nvPicPr>
          <p:cNvPr id="47" name="inner-mar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70b9f7b214c93"/>
          <a:stretch xmlns:a="http://schemas.openxmlformats.org/drawingml/2006/main"/>
        </p:blipFill>
        <p:spPr>
          <a:xfrm xmlns:a="http://schemas.openxmlformats.org/drawingml/2006/main">
            <a:off x="12934950" y="2895600"/>
            <a:ext cx="2628900" cy="2628900"/>
          </a:xfrm>
          <a:prstGeom xmlns:a="http://schemas.openxmlformats.org/drawingml/2006/main" prst="rect">
            <a:avLst/>
          </a:prstGeom>
        </p:spPr>
      </p:pic>
      <p:sp>
        <p:nvSpPr>
          <p:cNvPr id="48" name="rule-1372-626">
            <a:extLst xmlns:a="http://schemas.openxmlformats.org/drawingml/2006/main">
              <a:ext uri="{FF2B5EF4-FFF2-40B4-BE49-F238E27FC236}">
                <a16:creationId xmlns:a16="http://schemas.microsoft.com/office/drawing/2014/main" id="{4919BC15-B834-44EA-9F90-1EB2AE84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8300" y="59626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3A"/>
          </a:solidFill>
        </p:spPr>
      </p:sp>
      <p:sp>
        <p:nvSpPr>
          <p:cNvPr id="49" name="inner-mars-label">
            <a:extLst xmlns:a="http://schemas.openxmlformats.org/drawingml/2006/main">
              <a:ext uri="{FF2B5EF4-FFF2-40B4-BE49-F238E27FC236}">
                <a16:creationId xmlns:a16="http://schemas.microsoft.com/office/drawing/2014/main" id="{DD950D39-9578-429E-A304-626CDC73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624840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Mars</a:t>
            </a:r>
          </a:p>
        </p:txBody>
      </p:sp>
      <p:sp>
        <p:nvSpPr>
          <p:cNvPr id="50" name="inner-mars-note">
            <a:extLst xmlns:a="http://schemas.openxmlformats.org/drawingml/2006/main">
              <a:ext uri="{FF2B5EF4-FFF2-40B4-BE49-F238E27FC236}">
                <a16:creationId xmlns:a16="http://schemas.microsoft.com/office/drawing/2014/main" id="{82A4CBEB-73BA-464D-8C58-78B8F240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68199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C5D0DE"/>
                </a:solidFill>
                <a:latin typeface="Aptos"/>
                <a:ea typeface="Aptos"/>
                <a:cs typeface="Aptos"/>
              </a:defRPr>
            </a:pPr>
            <a:r>
              <a:t>cold desert, ancient rivers</a:t>
            </a:r>
          </a:p>
        </p:txBody>
      </p:sp>
      <p:sp>
        <p:nvSpPr>
          <p:cNvPr id="51" name="inner-landing">
            <a:extLst xmlns:a="http://schemas.openxmlformats.org/drawingml/2006/main">
              <a:ext uri="{FF2B5EF4-FFF2-40B4-BE49-F238E27FC236}">
                <a16:creationId xmlns:a16="http://schemas.microsoft.com/office/drawing/2014/main" id="{02D7456A-A9A7-450D-9F6B-0576054D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8477250"/>
            <a:ext cx="1276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6EFE4"/>
                </a:solidFill>
                <a:latin typeface="Aptos"/>
                <a:ea typeface="Aptos"/>
                <a:cs typeface="Aptos"/>
              </a:defRPr>
            </a:pPr>
            <a:r>
              <a:t>The habitable zone is not a magic ring. Atmosphere, geology, and time decide the outcome.</a:t>
            </a:r>
          </a:p>
        </p:txBody>
      </p:sp>
      <p:sp>
        <p:nvSpPr>
          <p:cNvPr id="5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9457647-E9B1-4A4D-BC76-30377E32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753600"/>
            <a:ext cx="1352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794A8"/>
                </a:solidFill>
                <a:latin typeface="Aptos"/>
                <a:ea typeface="Aptos"/>
                <a:cs typeface="Aptos"/>
              </a:defRPr>
            </a:pPr>
            <a:r>
              <a:t>Images and data: NASA/JPL/GSFC. Distances and sizes are simplified for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8768549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outer-bg">
            <a:extLst xmlns:a="http://schemas.openxmlformats.org/drawingml/2006/main">
              <a:ext uri="{FF2B5EF4-FFF2-40B4-BE49-F238E27FC236}">
                <a16:creationId xmlns:a16="http://schemas.microsoft.com/office/drawing/2014/main" id="{F2BD2D20-0888-4B7F-ACF8-ED954E54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</p:spPr>
      </p:sp>
      <p:sp>
        <p:nvSpPr>
          <p:cNvPr id="2" name="star-44-0">
            <a:extLst xmlns:a="http://schemas.openxmlformats.org/drawingml/2006/main">
              <a:ext uri="{FF2B5EF4-FFF2-40B4-BE49-F238E27FC236}">
                <a16:creationId xmlns:a16="http://schemas.microsoft.com/office/drawing/2014/main" id="{D8368E31-F873-44A5-A6AD-67EE6667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38439" y="4737697"/>
            <a:ext cx="38959" cy="389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3" name="star-44-1">
            <a:extLst xmlns:a="http://schemas.openxmlformats.org/drawingml/2006/main">
              <a:ext uri="{FF2B5EF4-FFF2-40B4-BE49-F238E27FC236}">
                <a16:creationId xmlns:a16="http://schemas.microsoft.com/office/drawing/2014/main" id="{FAAD065D-3EAD-4160-A0F9-124BC4EB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1352" y="7842006"/>
            <a:ext cx="42724" cy="42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4" name="star-44-2">
            <a:extLst xmlns:a="http://schemas.openxmlformats.org/drawingml/2006/main">
              <a:ext uri="{FF2B5EF4-FFF2-40B4-BE49-F238E27FC236}">
                <a16:creationId xmlns:a16="http://schemas.microsoft.com/office/drawing/2014/main" id="{55CDA6A9-4267-4312-BDC7-6AF0CA0A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3938" y="6951302"/>
            <a:ext cx="50809" cy="508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5" name="star-44-3">
            <a:extLst xmlns:a="http://schemas.openxmlformats.org/drawingml/2006/main">
              <a:ext uri="{FF2B5EF4-FFF2-40B4-BE49-F238E27FC236}">
                <a16:creationId xmlns:a16="http://schemas.microsoft.com/office/drawing/2014/main" id="{55CA1A1F-464E-4E41-AE9C-22D0256D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36326" y="1958577"/>
            <a:ext cx="33275" cy="33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6" name="star-44-4">
            <a:extLst xmlns:a="http://schemas.openxmlformats.org/drawingml/2006/main">
              <a:ext uri="{FF2B5EF4-FFF2-40B4-BE49-F238E27FC236}">
                <a16:creationId xmlns:a16="http://schemas.microsoft.com/office/drawing/2014/main" id="{B120C385-AF82-4FD2-ACE1-CD2A9CF3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6369" y="7845127"/>
            <a:ext cx="19166" cy="191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7" name="star-44-5">
            <a:extLst xmlns:a="http://schemas.openxmlformats.org/drawingml/2006/main">
              <a:ext uri="{FF2B5EF4-FFF2-40B4-BE49-F238E27FC236}">
                <a16:creationId xmlns:a16="http://schemas.microsoft.com/office/drawing/2014/main" id="{93FCB54A-0775-429A-8467-6A128258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7307" y="7489470"/>
            <a:ext cx="32166" cy="321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8" name="star-44-6">
            <a:extLst xmlns:a="http://schemas.openxmlformats.org/drawingml/2006/main">
              <a:ext uri="{FF2B5EF4-FFF2-40B4-BE49-F238E27FC236}">
                <a16:creationId xmlns:a16="http://schemas.microsoft.com/office/drawing/2014/main" id="{2C5169DB-3F2B-4BAD-B151-5D699791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70936" y="5600013"/>
            <a:ext cx="50380" cy="503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9" name="star-44-7">
            <a:extLst xmlns:a="http://schemas.openxmlformats.org/drawingml/2006/main">
              <a:ext uri="{FF2B5EF4-FFF2-40B4-BE49-F238E27FC236}">
                <a16:creationId xmlns:a16="http://schemas.microsoft.com/office/drawing/2014/main" id="{61F2B4E9-D61D-4464-A362-F0096164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0469" y="8481052"/>
            <a:ext cx="33076" cy="330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10" name="star-44-8">
            <a:extLst xmlns:a="http://schemas.openxmlformats.org/drawingml/2006/main">
              <a:ext uri="{FF2B5EF4-FFF2-40B4-BE49-F238E27FC236}">
                <a16:creationId xmlns:a16="http://schemas.microsoft.com/office/drawing/2014/main" id="{8FCF2D8D-6DF6-4573-8906-D4FD2209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346" y="8794202"/>
            <a:ext cx="34123" cy="341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11" name="star-44-9">
            <a:extLst xmlns:a="http://schemas.openxmlformats.org/drawingml/2006/main">
              <a:ext uri="{FF2B5EF4-FFF2-40B4-BE49-F238E27FC236}">
                <a16:creationId xmlns:a16="http://schemas.microsoft.com/office/drawing/2014/main" id="{426FB348-649F-4C3D-986D-3796BACE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27205" y="3237115"/>
            <a:ext cx="31296" cy="31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12" name="star-44-10">
            <a:extLst xmlns:a="http://schemas.openxmlformats.org/drawingml/2006/main">
              <a:ext uri="{FF2B5EF4-FFF2-40B4-BE49-F238E27FC236}">
                <a16:creationId xmlns:a16="http://schemas.microsoft.com/office/drawing/2014/main" id="{50DF6734-6BDC-465B-8677-1A68441D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5738" y="7893058"/>
            <a:ext cx="34838" cy="348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13" name="star-44-11">
            <a:extLst xmlns:a="http://schemas.openxmlformats.org/drawingml/2006/main">
              <a:ext uri="{FF2B5EF4-FFF2-40B4-BE49-F238E27FC236}">
                <a16:creationId xmlns:a16="http://schemas.microsoft.com/office/drawing/2014/main" id="{B08E8A7D-FE48-44CD-BDAB-CEEDF1E7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2483" y="7675287"/>
            <a:ext cx="46376" cy="463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14" name="star-44-12">
            <a:extLst xmlns:a="http://schemas.openxmlformats.org/drawingml/2006/main">
              <a:ext uri="{FF2B5EF4-FFF2-40B4-BE49-F238E27FC236}">
                <a16:creationId xmlns:a16="http://schemas.microsoft.com/office/drawing/2014/main" id="{083E9224-E9DF-4F08-A7ED-510E98D7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38024" y="8541319"/>
            <a:ext cx="21133" cy="211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15" name="star-44-13">
            <a:extLst xmlns:a="http://schemas.openxmlformats.org/drawingml/2006/main">
              <a:ext uri="{FF2B5EF4-FFF2-40B4-BE49-F238E27FC236}">
                <a16:creationId xmlns:a16="http://schemas.microsoft.com/office/drawing/2014/main" id="{6EDD859E-55CA-472B-A22B-0CDB7B26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49553" y="6803459"/>
            <a:ext cx="27468" cy="274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16" name="star-44-14">
            <a:extLst xmlns:a="http://schemas.openxmlformats.org/drawingml/2006/main">
              <a:ext uri="{FF2B5EF4-FFF2-40B4-BE49-F238E27FC236}">
                <a16:creationId xmlns:a16="http://schemas.microsoft.com/office/drawing/2014/main" id="{F4AD3C04-4DF0-4C6C-A3AE-9D610055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8310" y="5564975"/>
            <a:ext cx="28738" cy="287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17" name="star-44-15">
            <a:extLst xmlns:a="http://schemas.openxmlformats.org/drawingml/2006/main">
              <a:ext uri="{FF2B5EF4-FFF2-40B4-BE49-F238E27FC236}">
                <a16:creationId xmlns:a16="http://schemas.microsoft.com/office/drawing/2014/main" id="{3016716A-9B58-4028-87C9-0E44EC61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46592" y="3755776"/>
            <a:ext cx="51308" cy="513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18" name="star-44-16">
            <a:extLst xmlns:a="http://schemas.openxmlformats.org/drawingml/2006/main">
              <a:ext uri="{FF2B5EF4-FFF2-40B4-BE49-F238E27FC236}">
                <a16:creationId xmlns:a16="http://schemas.microsoft.com/office/drawing/2014/main" id="{ABE6818D-DB1F-4D1E-AE2B-C8F4C370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417" y="3837073"/>
            <a:ext cx="23682" cy="236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19" name="star-44-17">
            <a:extLst xmlns:a="http://schemas.openxmlformats.org/drawingml/2006/main">
              <a:ext uri="{FF2B5EF4-FFF2-40B4-BE49-F238E27FC236}">
                <a16:creationId xmlns:a16="http://schemas.microsoft.com/office/drawing/2014/main" id="{DDBD4C0C-ACB2-4E6D-9EF0-02CE1F56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06193" y="7949052"/>
            <a:ext cx="37911" cy="379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20" name="star-44-18">
            <a:extLst xmlns:a="http://schemas.openxmlformats.org/drawingml/2006/main">
              <a:ext uri="{FF2B5EF4-FFF2-40B4-BE49-F238E27FC236}">
                <a16:creationId xmlns:a16="http://schemas.microsoft.com/office/drawing/2014/main" id="{B693FBAA-2DB6-4F27-8732-B7B400A7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0382" y="2501538"/>
            <a:ext cx="19818" cy="198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21" name="star-44-19">
            <a:extLst xmlns:a="http://schemas.openxmlformats.org/drawingml/2006/main">
              <a:ext uri="{FF2B5EF4-FFF2-40B4-BE49-F238E27FC236}">
                <a16:creationId xmlns:a16="http://schemas.microsoft.com/office/drawing/2014/main" id="{C6745122-29FE-47FA-9641-D4230F57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7670" y="549659"/>
            <a:ext cx="38665" cy="386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22" name="star-44-20">
            <a:extLst xmlns:a="http://schemas.openxmlformats.org/drawingml/2006/main">
              <a:ext uri="{FF2B5EF4-FFF2-40B4-BE49-F238E27FC236}">
                <a16:creationId xmlns:a16="http://schemas.microsoft.com/office/drawing/2014/main" id="{3BF900D9-23E5-4B8B-B405-A53D6F85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4631" y="3270518"/>
            <a:ext cx="25636" cy="256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23" name="star-44-21">
            <a:extLst xmlns:a="http://schemas.openxmlformats.org/drawingml/2006/main">
              <a:ext uri="{FF2B5EF4-FFF2-40B4-BE49-F238E27FC236}">
                <a16:creationId xmlns:a16="http://schemas.microsoft.com/office/drawing/2014/main" id="{CF227CB7-F2BC-4349-BAE8-B0511897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9761" y="9150045"/>
            <a:ext cx="28339" cy="28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24" name="star-44-22">
            <a:extLst xmlns:a="http://schemas.openxmlformats.org/drawingml/2006/main">
              <a:ext uri="{FF2B5EF4-FFF2-40B4-BE49-F238E27FC236}">
                <a16:creationId xmlns:a16="http://schemas.microsoft.com/office/drawing/2014/main" id="{0524F6B5-FAF6-462A-835B-42D6A4BD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9377" y="4656697"/>
            <a:ext cx="41935" cy="419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25" name="star-44-23">
            <a:extLst xmlns:a="http://schemas.openxmlformats.org/drawingml/2006/main">
              <a:ext uri="{FF2B5EF4-FFF2-40B4-BE49-F238E27FC236}">
                <a16:creationId xmlns:a16="http://schemas.microsoft.com/office/drawing/2014/main" id="{C303C1FF-1207-41B1-ACAF-B2A45EF7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3643" y="8652415"/>
            <a:ext cx="28839" cy="288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26" name="star-44-24">
            <a:extLst xmlns:a="http://schemas.openxmlformats.org/drawingml/2006/main">
              <a:ext uri="{FF2B5EF4-FFF2-40B4-BE49-F238E27FC236}">
                <a16:creationId xmlns:a16="http://schemas.microsoft.com/office/drawing/2014/main" id="{45876C4E-154D-41D7-9573-D6ED5E79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4268" y="6147655"/>
            <a:ext cx="37781" cy="377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27" name="star-44-25">
            <a:extLst xmlns:a="http://schemas.openxmlformats.org/drawingml/2006/main">
              <a:ext uri="{FF2B5EF4-FFF2-40B4-BE49-F238E27FC236}">
                <a16:creationId xmlns:a16="http://schemas.microsoft.com/office/drawing/2014/main" id="{2E0A7FDC-567B-42ED-81CB-6AF9BFE5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2380" y="3928254"/>
            <a:ext cx="54170" cy="541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28" name="star-44-26">
            <a:extLst xmlns:a="http://schemas.openxmlformats.org/drawingml/2006/main">
              <a:ext uri="{FF2B5EF4-FFF2-40B4-BE49-F238E27FC236}">
                <a16:creationId xmlns:a16="http://schemas.microsoft.com/office/drawing/2014/main" id="{02980F44-88F1-45CE-94CA-5D93AD8D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73720" y="5097478"/>
            <a:ext cx="41364" cy="413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29" name="star-44-27">
            <a:extLst xmlns:a="http://schemas.openxmlformats.org/drawingml/2006/main">
              <a:ext uri="{FF2B5EF4-FFF2-40B4-BE49-F238E27FC236}">
                <a16:creationId xmlns:a16="http://schemas.microsoft.com/office/drawing/2014/main" id="{B56168F2-0230-44A0-BC43-FB684256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7085" y="8585237"/>
            <a:ext cx="25729" cy="257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30" name="star-44-28">
            <a:extLst xmlns:a="http://schemas.openxmlformats.org/drawingml/2006/main">
              <a:ext uri="{FF2B5EF4-FFF2-40B4-BE49-F238E27FC236}">
                <a16:creationId xmlns:a16="http://schemas.microsoft.com/office/drawing/2014/main" id="{DBA2B911-B72D-45AD-B567-AEB16E88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9994" y="8184993"/>
            <a:ext cx="44352" cy="44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31" name="star-44-29">
            <a:extLst xmlns:a="http://schemas.openxmlformats.org/drawingml/2006/main">
              <a:ext uri="{FF2B5EF4-FFF2-40B4-BE49-F238E27FC236}">
                <a16:creationId xmlns:a16="http://schemas.microsoft.com/office/drawing/2014/main" id="{75DCC984-6B4E-4066-8353-E9B225C0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65853" y="6036931"/>
            <a:ext cx="44505" cy="445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32" name="star-44-30">
            <a:extLst xmlns:a="http://schemas.openxmlformats.org/drawingml/2006/main">
              <a:ext uri="{FF2B5EF4-FFF2-40B4-BE49-F238E27FC236}">
                <a16:creationId xmlns:a16="http://schemas.microsoft.com/office/drawing/2014/main" id="{3EA34D71-9826-4C4D-A7EC-D5B5BE04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09626" y="5886374"/>
            <a:ext cx="24401" cy="244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33" name="star-44-31">
            <a:extLst xmlns:a="http://schemas.openxmlformats.org/drawingml/2006/main">
              <a:ext uri="{FF2B5EF4-FFF2-40B4-BE49-F238E27FC236}">
                <a16:creationId xmlns:a16="http://schemas.microsoft.com/office/drawing/2014/main" id="{CF1CA3CC-CF26-4A5C-AD37-65D33FA0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3497" y="3452954"/>
            <a:ext cx="53302" cy="533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34" name="star-44-32">
            <a:extLst xmlns:a="http://schemas.openxmlformats.org/drawingml/2006/main">
              <a:ext uri="{FF2B5EF4-FFF2-40B4-BE49-F238E27FC236}">
                <a16:creationId xmlns:a16="http://schemas.microsoft.com/office/drawing/2014/main" id="{5F9C9986-4931-42D4-ADFF-E5CAF12E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8541" y="8581522"/>
            <a:ext cx="26197" cy="261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35" name="star-44-33">
            <a:extLst xmlns:a="http://schemas.openxmlformats.org/drawingml/2006/main">
              <a:ext uri="{FF2B5EF4-FFF2-40B4-BE49-F238E27FC236}">
                <a16:creationId xmlns:a16="http://schemas.microsoft.com/office/drawing/2014/main" id="{7213A56C-51FD-4789-ADF6-213E1887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20388" y="3829567"/>
            <a:ext cx="21733" cy="217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36" name="star-44-34">
            <a:extLst xmlns:a="http://schemas.openxmlformats.org/drawingml/2006/main">
              <a:ext uri="{FF2B5EF4-FFF2-40B4-BE49-F238E27FC236}">
                <a16:creationId xmlns:a16="http://schemas.microsoft.com/office/drawing/2014/main" id="{855EF896-BB66-46FD-8FF4-38D2844A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5889" y="4178388"/>
            <a:ext cx="32760" cy="32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37" name="star-44-35">
            <a:extLst xmlns:a="http://schemas.openxmlformats.org/drawingml/2006/main">
              <a:ext uri="{FF2B5EF4-FFF2-40B4-BE49-F238E27FC236}">
                <a16:creationId xmlns:a16="http://schemas.microsoft.com/office/drawing/2014/main" id="{008BAD76-F1C4-4C22-BED8-88DDA581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9292" y="2643065"/>
            <a:ext cx="51196" cy="511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38" name="star-44-36">
            <a:extLst xmlns:a="http://schemas.openxmlformats.org/drawingml/2006/main">
              <a:ext uri="{FF2B5EF4-FFF2-40B4-BE49-F238E27FC236}">
                <a16:creationId xmlns:a16="http://schemas.microsoft.com/office/drawing/2014/main" id="{6C9420DD-A5A1-4320-A0C6-CB66CCD7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9136" y="5920930"/>
            <a:ext cx="27283" cy="272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39" name="star-44-37">
            <a:extLst xmlns:a="http://schemas.openxmlformats.org/drawingml/2006/main">
              <a:ext uri="{FF2B5EF4-FFF2-40B4-BE49-F238E27FC236}">
                <a16:creationId xmlns:a16="http://schemas.microsoft.com/office/drawing/2014/main" id="{73215098-1721-4662-A8FC-23D42C76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3831" y="3219986"/>
            <a:ext cx="53726" cy="537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40" name="star-44-38">
            <a:extLst xmlns:a="http://schemas.openxmlformats.org/drawingml/2006/main">
              <a:ext uri="{FF2B5EF4-FFF2-40B4-BE49-F238E27FC236}">
                <a16:creationId xmlns:a16="http://schemas.microsoft.com/office/drawing/2014/main" id="{23F060DA-8991-463D-8ED8-D00F10EC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43255" y="6796919"/>
            <a:ext cx="26844" cy="268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41" name="star-44-39">
            <a:extLst xmlns:a="http://schemas.openxmlformats.org/drawingml/2006/main">
              <a:ext uri="{FF2B5EF4-FFF2-40B4-BE49-F238E27FC236}">
                <a16:creationId xmlns:a16="http://schemas.microsoft.com/office/drawing/2014/main" id="{707DC8C5-4FFC-4ECF-BA65-B230EBA3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6204" y="6913886"/>
            <a:ext cx="45393" cy="453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42" name="star-44-40">
            <a:extLst xmlns:a="http://schemas.openxmlformats.org/drawingml/2006/main">
              <a:ext uri="{FF2B5EF4-FFF2-40B4-BE49-F238E27FC236}">
                <a16:creationId xmlns:a16="http://schemas.microsoft.com/office/drawing/2014/main" id="{95809024-656A-496E-A2B7-5C397ED5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80196" y="6032100"/>
            <a:ext cx="37875" cy="37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43" name="star-44-41">
            <a:extLst xmlns:a="http://schemas.openxmlformats.org/drawingml/2006/main">
              <a:ext uri="{FF2B5EF4-FFF2-40B4-BE49-F238E27FC236}">
                <a16:creationId xmlns:a16="http://schemas.microsoft.com/office/drawing/2014/main" id="{80F9C4E6-388F-4230-9581-5E2E66B3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9638" y="6291746"/>
            <a:ext cx="23953" cy="239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44" name="star-44-42">
            <a:extLst xmlns:a="http://schemas.openxmlformats.org/drawingml/2006/main">
              <a:ext uri="{FF2B5EF4-FFF2-40B4-BE49-F238E27FC236}">
                <a16:creationId xmlns:a16="http://schemas.microsoft.com/office/drawing/2014/main" id="{1AE27277-5AD1-4591-A1F4-1D905F28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94" y="2770399"/>
            <a:ext cx="38033" cy="380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45" name="star-44-43">
            <a:extLst xmlns:a="http://schemas.openxmlformats.org/drawingml/2006/main">
              <a:ext uri="{FF2B5EF4-FFF2-40B4-BE49-F238E27FC236}">
                <a16:creationId xmlns:a16="http://schemas.microsoft.com/office/drawing/2014/main" id="{A0AD8092-6C41-46AE-80F5-780A6060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27949" y="8523187"/>
            <a:ext cx="40793" cy="407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46" name="star-44-44">
            <a:extLst xmlns:a="http://schemas.openxmlformats.org/drawingml/2006/main">
              <a:ext uri="{FF2B5EF4-FFF2-40B4-BE49-F238E27FC236}">
                <a16:creationId xmlns:a16="http://schemas.microsoft.com/office/drawing/2014/main" id="{5FE63D89-EA9A-48A3-8AA6-0E38114F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1076" y="7391712"/>
            <a:ext cx="35808" cy="35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EFF"/>
          </a:solidFill>
        </p:spPr>
      </p:sp>
      <p:sp>
        <p:nvSpPr>
          <p:cNvPr id="4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5D5F50-B474-4623-B57A-CB96B4B2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Beyond Mars, scale changes again</a:t>
            </a:r>
          </a:p>
        </p:txBody>
      </p:sp>
      <p:sp>
        <p:nvSpPr>
          <p:cNvPr id="4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CE11461-6A06-46D1-8A64-03624280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C5D0DE"/>
                </a:solidFill>
                <a:latin typeface="Aptos"/>
                <a:ea typeface="Aptos"/>
                <a:cs typeface="Aptos"/>
              </a:defRPr>
            </a:pPr>
            <a:r>
              <a:t>The outer planets are systems in miniature, with rings, storms, magnetic fields, and dozens of moons.</a:t>
            </a:r>
          </a:p>
        </p:txBody>
      </p:sp>
      <p:pic>
        <p:nvPicPr>
          <p:cNvPr id="49" name="outer-jupit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c60de105140ba"/>
          <a:stretch xmlns:a="http://schemas.openxmlformats.org/drawingml/2006/main"/>
        </p:blipFill>
        <p:spPr>
          <a:xfrm xmlns:a="http://schemas.openxmlformats.org/drawingml/2006/main">
            <a:off x="914400" y="2705100"/>
            <a:ext cx="3143250" cy="3143250"/>
          </a:xfrm>
          <a:prstGeom xmlns:a="http://schemas.openxmlformats.org/drawingml/2006/main" prst="rect">
            <a:avLst/>
          </a:prstGeom>
        </p:spPr>
      </p:pic>
      <p:sp>
        <p:nvSpPr>
          <p:cNvPr id="50" name="outer-jupiter-label">
            <a:extLst xmlns:a="http://schemas.openxmlformats.org/drawingml/2006/main">
              <a:ext uri="{FF2B5EF4-FFF2-40B4-BE49-F238E27FC236}">
                <a16:creationId xmlns:a16="http://schemas.microsoft.com/office/drawing/2014/main" id="{7E272BA8-6E0E-4578-B090-E28C3284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437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Jupiter</a:t>
            </a:r>
          </a:p>
        </p:txBody>
      </p:sp>
      <p:sp>
        <p:nvSpPr>
          <p:cNvPr id="51" name="rule-96-765">
            <a:extLst xmlns:a="http://schemas.openxmlformats.org/drawingml/2006/main">
              <a:ext uri="{FF2B5EF4-FFF2-40B4-BE49-F238E27FC236}">
                <a16:creationId xmlns:a16="http://schemas.microsoft.com/office/drawing/2014/main" id="{B823B2A5-1D21-4C62-9C1A-42431ACE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7286625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52" name="outer-jupiter-head">
            <a:extLst xmlns:a="http://schemas.openxmlformats.org/drawingml/2006/main">
              <a:ext uri="{FF2B5EF4-FFF2-40B4-BE49-F238E27FC236}">
                <a16:creationId xmlns:a16="http://schemas.microsoft.com/office/drawing/2014/main" id="{8F6D46B1-4B30-496B-97A7-95F76B1E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43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t>storm engine</a:t>
            </a:r>
          </a:p>
        </p:txBody>
      </p:sp>
      <p:sp>
        <p:nvSpPr>
          <p:cNvPr id="53" name="outer-jupiter-body">
            <a:extLst xmlns:a="http://schemas.openxmlformats.org/drawingml/2006/main">
              <a:ext uri="{FF2B5EF4-FFF2-40B4-BE49-F238E27FC236}">
                <a16:creationId xmlns:a16="http://schemas.microsoft.com/office/drawing/2014/main" id="{041E04CC-C468-4949-9EA3-8F174267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629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C5D0DE"/>
                </a:solidFill>
                <a:latin typeface="Aptos"/>
                <a:ea typeface="Aptos"/>
                <a:cs typeface="Aptos"/>
              </a:defRPr>
            </a:pPr>
            <a:r>
              <a:t>largest planet; a moon system of its own</a:t>
            </a:r>
          </a:p>
        </p:txBody>
      </p:sp>
      <p:pic>
        <p:nvPicPr>
          <p:cNvPr id="54" name="outer-satur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4823aba1994579"/>
          <a:stretch xmlns:a="http://schemas.openxmlformats.org/drawingml/2006/main"/>
        </p:blipFill>
        <p:spPr>
          <a:xfrm xmlns:a="http://schemas.openxmlformats.org/drawingml/2006/main">
            <a:off x="4819650" y="3994299"/>
            <a:ext cx="3905250" cy="1517352"/>
          </a:xfrm>
          <a:prstGeom xmlns:a="http://schemas.openxmlformats.org/drawingml/2006/main" prst="rect">
            <a:avLst/>
          </a:prstGeom>
        </p:spPr>
      </p:pic>
      <p:sp>
        <p:nvSpPr>
          <p:cNvPr id="55" name="outer-saturn-label">
            <a:extLst xmlns:a="http://schemas.openxmlformats.org/drawingml/2006/main">
              <a:ext uri="{FF2B5EF4-FFF2-40B4-BE49-F238E27FC236}">
                <a16:creationId xmlns:a16="http://schemas.microsoft.com/office/drawing/2014/main" id="{9AD395CA-1DE0-449A-9E3D-7F028C7F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7437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Saturn</a:t>
            </a:r>
          </a:p>
        </p:txBody>
      </p:sp>
      <p:sp>
        <p:nvSpPr>
          <p:cNvPr id="56" name="rule-506-765">
            <a:extLst xmlns:a="http://schemas.openxmlformats.org/drawingml/2006/main">
              <a:ext uri="{FF2B5EF4-FFF2-40B4-BE49-F238E27FC236}">
                <a16:creationId xmlns:a16="http://schemas.microsoft.com/office/drawing/2014/main" id="{9FDDB7AD-B68B-415A-85BD-AA75B6E2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7286625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732F"/>
          </a:solidFill>
        </p:spPr>
      </p:sp>
      <p:sp>
        <p:nvSpPr>
          <p:cNvPr id="57" name="outer-saturn-head">
            <a:extLst xmlns:a="http://schemas.openxmlformats.org/drawingml/2006/main">
              <a:ext uri="{FF2B5EF4-FFF2-40B4-BE49-F238E27FC236}">
                <a16:creationId xmlns:a16="http://schemas.microsoft.com/office/drawing/2014/main" id="{5CD8DEC3-2052-4D55-844E-D3B632F9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7543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1732F"/>
                </a:solidFill>
                <a:latin typeface="Aptos"/>
                <a:ea typeface="Aptos"/>
                <a:cs typeface="Aptos"/>
              </a:defRPr>
            </a:pPr>
            <a:r>
              <a:t>ring laboratory</a:t>
            </a:r>
          </a:p>
        </p:txBody>
      </p:sp>
      <p:sp>
        <p:nvSpPr>
          <p:cNvPr id="58" name="outer-saturn-body">
            <a:extLst xmlns:a="http://schemas.openxmlformats.org/drawingml/2006/main">
              <a:ext uri="{FF2B5EF4-FFF2-40B4-BE49-F238E27FC236}">
                <a16:creationId xmlns:a16="http://schemas.microsoft.com/office/drawing/2014/main" id="{FEE7C44E-BF11-484B-9D71-00523255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79629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C5D0DE"/>
                </a:solidFill>
                <a:latin typeface="Aptos"/>
                <a:ea typeface="Aptos"/>
                <a:cs typeface="Aptos"/>
              </a:defRPr>
            </a:pPr>
            <a:r>
              <a:t>icy rings turn gravity into visible structure</a:t>
            </a:r>
          </a:p>
        </p:txBody>
      </p:sp>
      <p:pic>
        <p:nvPicPr>
          <p:cNvPr id="59" name="outer-uranu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5644318d64313"/>
          <a:stretch xmlns:a="http://schemas.openxmlformats.org/drawingml/2006/main"/>
        </p:blipFill>
        <p:spPr>
          <a:xfrm xmlns:a="http://schemas.openxmlformats.org/drawingml/2006/main">
            <a:off x="9810750" y="3219450"/>
            <a:ext cx="2419350" cy="2419350"/>
          </a:xfrm>
          <a:prstGeom xmlns:a="http://schemas.openxmlformats.org/drawingml/2006/main" prst="rect">
            <a:avLst/>
          </a:prstGeom>
        </p:spPr>
      </p:pic>
      <p:sp>
        <p:nvSpPr>
          <p:cNvPr id="60" name="outer-uranus-label">
            <a:extLst xmlns:a="http://schemas.openxmlformats.org/drawingml/2006/main">
              <a:ext uri="{FF2B5EF4-FFF2-40B4-BE49-F238E27FC236}">
                <a16:creationId xmlns:a16="http://schemas.microsoft.com/office/drawing/2014/main" id="{A45CE68F-69FA-4F47-A2A1-664C8998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7437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Uranus</a:t>
            </a:r>
          </a:p>
        </p:txBody>
      </p:sp>
      <p:sp>
        <p:nvSpPr>
          <p:cNvPr id="61" name="rule-1030-765">
            <a:extLst xmlns:a="http://schemas.openxmlformats.org/drawingml/2006/main">
              <a:ext uri="{FF2B5EF4-FFF2-40B4-BE49-F238E27FC236}">
                <a16:creationId xmlns:a16="http://schemas.microsoft.com/office/drawing/2014/main" id="{A44BC000-DB28-43F1-8CE8-4B12E33C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0" y="7286625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8FF"/>
          </a:solidFill>
        </p:spPr>
      </p:sp>
      <p:sp>
        <p:nvSpPr>
          <p:cNvPr id="62" name="outer-uranus-head">
            <a:extLst xmlns:a="http://schemas.openxmlformats.org/drawingml/2006/main">
              <a:ext uri="{FF2B5EF4-FFF2-40B4-BE49-F238E27FC236}">
                <a16:creationId xmlns:a16="http://schemas.microsoft.com/office/drawing/2014/main" id="{949C528A-F923-4B12-83C2-162C57F2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543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BEE8FF"/>
                </a:solidFill>
                <a:latin typeface="Aptos"/>
                <a:ea typeface="Aptos"/>
                <a:cs typeface="Aptos"/>
              </a:defRPr>
            </a:pPr>
            <a:r>
              <a:t>tilted ice giant</a:t>
            </a:r>
          </a:p>
        </p:txBody>
      </p:sp>
      <p:sp>
        <p:nvSpPr>
          <p:cNvPr id="63" name="outer-uranus-body">
            <a:extLst xmlns:a="http://schemas.openxmlformats.org/drawingml/2006/main">
              <a:ext uri="{FF2B5EF4-FFF2-40B4-BE49-F238E27FC236}">
                <a16:creationId xmlns:a16="http://schemas.microsoft.com/office/drawing/2014/main" id="{89BBF9F9-7DC5-441C-8311-715E89F4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9629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C5D0DE"/>
                </a:solidFill>
                <a:latin typeface="Aptos"/>
                <a:ea typeface="Aptos"/>
                <a:cs typeface="Aptos"/>
              </a:defRPr>
            </a:pPr>
            <a:r>
              <a:t>rotates on its side, likely after a giant impact</a:t>
            </a:r>
          </a:p>
        </p:txBody>
      </p:sp>
      <p:pic>
        <p:nvPicPr>
          <p:cNvPr id="64" name="outer-neptun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ef8f8cd7b4775"/>
          <a:stretch xmlns:a="http://schemas.openxmlformats.org/drawingml/2006/main"/>
        </p:blipFill>
        <p:spPr>
          <a:xfrm xmlns:a="http://schemas.openxmlformats.org/drawingml/2006/main">
            <a:off x="13220700" y="3221340"/>
            <a:ext cx="2419350" cy="2415570"/>
          </a:xfrm>
          <a:prstGeom xmlns:a="http://schemas.openxmlformats.org/drawingml/2006/main" prst="rect">
            <a:avLst/>
          </a:prstGeom>
        </p:spPr>
      </p:pic>
      <p:sp>
        <p:nvSpPr>
          <p:cNvPr id="65" name="outer-neptune-label">
            <a:extLst xmlns:a="http://schemas.openxmlformats.org/drawingml/2006/main">
              <a:ext uri="{FF2B5EF4-FFF2-40B4-BE49-F238E27FC236}">
                <a16:creationId xmlns:a16="http://schemas.microsoft.com/office/drawing/2014/main" id="{27C9E6ED-133A-4BDE-9674-1C019AAB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67437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Neptune</a:t>
            </a:r>
          </a:p>
        </p:txBody>
      </p:sp>
      <p:sp>
        <p:nvSpPr>
          <p:cNvPr id="66" name="rule-1388-765">
            <a:extLst xmlns:a="http://schemas.openxmlformats.org/drawingml/2006/main">
              <a:ext uri="{FF2B5EF4-FFF2-40B4-BE49-F238E27FC236}">
                <a16:creationId xmlns:a16="http://schemas.microsoft.com/office/drawing/2014/main" id="{0E8B92F7-7799-4DA3-9484-30567880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20700" y="7286625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6FF"/>
          </a:solidFill>
        </p:spPr>
      </p:sp>
      <p:sp>
        <p:nvSpPr>
          <p:cNvPr id="67" name="outer-neptune-head">
            <a:extLst xmlns:a="http://schemas.openxmlformats.org/drawingml/2006/main">
              <a:ext uri="{FF2B5EF4-FFF2-40B4-BE49-F238E27FC236}">
                <a16:creationId xmlns:a16="http://schemas.microsoft.com/office/drawing/2014/main" id="{CE0EC879-F8DA-4FB3-A312-7F4C34E8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7543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9B6FF"/>
                </a:solidFill>
                <a:latin typeface="Aptos"/>
                <a:ea typeface="Aptos"/>
                <a:cs typeface="Aptos"/>
              </a:defRPr>
            </a:pPr>
            <a:r>
              <a:t>blue wind world</a:t>
            </a:r>
          </a:p>
        </p:txBody>
      </p:sp>
      <p:sp>
        <p:nvSpPr>
          <p:cNvPr id="68" name="outer-neptune-body">
            <a:extLst xmlns:a="http://schemas.openxmlformats.org/drawingml/2006/main">
              <a:ext uri="{FF2B5EF4-FFF2-40B4-BE49-F238E27FC236}">
                <a16:creationId xmlns:a16="http://schemas.microsoft.com/office/drawing/2014/main" id="{051B3390-7ED7-406D-8161-7AB12ED9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79629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C5D0DE"/>
                </a:solidFill>
                <a:latin typeface="Aptos"/>
                <a:ea typeface="Aptos"/>
                <a:cs typeface="Aptos"/>
              </a:defRPr>
            </a:pPr>
            <a:r>
              <a:t>far, cold, and still dynamically active</a:t>
            </a:r>
          </a:p>
        </p:txBody>
      </p:sp>
      <p:sp>
        <p:nvSpPr>
          <p:cNvPr id="6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7FAA4AF-BC7F-45F3-94A8-F680E4C5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753600"/>
            <a:ext cx="1352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794A8"/>
                </a:solidFill>
                <a:latin typeface="Aptos"/>
                <a:ea typeface="Aptos"/>
                <a:cs typeface="Aptos"/>
              </a:defRPr>
            </a:pPr>
            <a:r>
              <a:t>Images and data: NASA/JPL/GSFC. Distances and sizes are simplified for presentation.</a:t>
            </a:r>
          </a:p>
        </p:txBody>
      </p:sp>
    </p:spTree>
    <p:extLst>
      <p:ext uri="{BB962C8B-B14F-4D97-AF65-F5344CB8AC3E}">
        <p14:creationId xmlns:p14="http://schemas.microsoft.com/office/powerpoint/2010/main" val="6133786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7F1016-F307-4E03-B513-034064C7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"/>
            <a:ext cx="876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15171E"/>
                </a:solidFill>
                <a:latin typeface="Aptos Display"/>
                <a:ea typeface="Aptos Display"/>
                <a:cs typeface="Aptos Display"/>
              </a:defRPr>
            </a:pPr>
            <a:r>
              <a:t>The leftovers are records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A90A61C-B38C-4CA0-842C-167D3238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621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t>Asteroids, comets, dwarf planets, and moons preserve clues from the early solar system.</a:t>
            </a:r>
          </a:p>
        </p:txBody>
      </p:sp>
      <p:pic>
        <p:nvPicPr>
          <p:cNvPr id="3" name="ceres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f7c035ae744af"/>
          <a:stretch xmlns:a="http://schemas.openxmlformats.org/drawingml/2006/main"/>
        </p:blipFill>
        <p:spPr>
          <a:xfrm xmlns:a="http://schemas.openxmlformats.org/drawingml/2006/main">
            <a:off x="1009650" y="2857500"/>
            <a:ext cx="4762500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ceres-label">
            <a:extLst xmlns:a="http://schemas.openxmlformats.org/drawingml/2006/main">
              <a:ext uri="{FF2B5EF4-FFF2-40B4-BE49-F238E27FC236}">
                <a16:creationId xmlns:a16="http://schemas.microsoft.com/office/drawing/2014/main" id="{67C3C65C-43B6-4D14-BF9C-FA78297B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7724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171E"/>
                </a:solidFill>
                <a:latin typeface="Aptos Display"/>
                <a:ea typeface="Aptos Display"/>
                <a:cs typeface="Aptos Display"/>
              </a:defRPr>
            </a:pPr>
            <a:r>
              <a:t>Ceres</a:t>
            </a:r>
          </a:p>
        </p:txBody>
      </p:sp>
      <p:sp>
        <p:nvSpPr>
          <p:cNvPr id="5" name="ceres-note">
            <a:extLst xmlns:a="http://schemas.openxmlformats.org/drawingml/2006/main">
              <a:ext uri="{FF2B5EF4-FFF2-40B4-BE49-F238E27FC236}">
                <a16:creationId xmlns:a16="http://schemas.microsoft.com/office/drawing/2014/main" id="{43082EB1-8C75-4223-9C6A-9EF944A1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2486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t>a dwarf planet in the asteroid belt</a:t>
            </a:r>
          </a:p>
        </p:txBody>
      </p:sp>
      <p:sp>
        <p:nvSpPr>
          <p:cNvPr id="6" name="rule-778-316">
            <a:extLst xmlns:a="http://schemas.openxmlformats.org/drawingml/2006/main">
              <a:ext uri="{FF2B5EF4-FFF2-40B4-BE49-F238E27FC236}">
                <a16:creationId xmlns:a16="http://schemas.microsoft.com/office/drawing/2014/main" id="{28C6F962-36D9-4FF8-94DD-E11F9C73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300990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3A"/>
          </a:solidFill>
        </p:spPr>
      </p:sp>
      <p:sp>
        <p:nvSpPr>
          <p:cNvPr id="7" name="small-head-1">
            <a:extLst xmlns:a="http://schemas.openxmlformats.org/drawingml/2006/main">
              <a:ext uri="{FF2B5EF4-FFF2-40B4-BE49-F238E27FC236}">
                <a16:creationId xmlns:a16="http://schemas.microsoft.com/office/drawing/2014/main" id="{B54FD4DD-668D-431C-B50D-17A071D1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956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5171E"/>
                </a:solidFill>
                <a:latin typeface="Aptos"/>
                <a:ea typeface="Aptos"/>
                <a:cs typeface="Aptos"/>
              </a:defRPr>
            </a:pPr>
            <a:r>
              <a:t>Asteroid belt</a:t>
            </a:r>
          </a:p>
        </p:txBody>
      </p:sp>
      <p:sp>
        <p:nvSpPr>
          <p:cNvPr id="8" name="small-body-1">
            <a:extLst xmlns:a="http://schemas.openxmlformats.org/drawingml/2006/main">
              <a:ext uri="{FF2B5EF4-FFF2-40B4-BE49-F238E27FC236}">
                <a16:creationId xmlns:a16="http://schemas.microsoft.com/office/drawing/2014/main" id="{1B4FC7D1-6B62-442E-AFE6-63EF9A43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3375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t>rocky fragments between Mars and Jupiter</a:t>
            </a:r>
          </a:p>
        </p:txBody>
      </p:sp>
      <p:sp>
        <p:nvSpPr>
          <p:cNvPr id="9" name="rule-778-448">
            <a:extLst xmlns:a="http://schemas.openxmlformats.org/drawingml/2006/main">
              <a:ext uri="{FF2B5EF4-FFF2-40B4-BE49-F238E27FC236}">
                <a16:creationId xmlns:a16="http://schemas.microsoft.com/office/drawing/2014/main" id="{935FD666-1F8D-440D-9FF3-0CD47410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426720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6FF"/>
          </a:solidFill>
        </p:spPr>
      </p:sp>
      <p:sp>
        <p:nvSpPr>
          <p:cNvPr id="10" name="small-head-2">
            <a:extLst xmlns:a="http://schemas.openxmlformats.org/drawingml/2006/main">
              <a:ext uri="{FF2B5EF4-FFF2-40B4-BE49-F238E27FC236}">
                <a16:creationId xmlns:a16="http://schemas.microsoft.com/office/drawing/2014/main" id="{4A08DBD3-E31D-4B28-91C0-E0F14989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529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5171E"/>
                </a:solidFill>
                <a:latin typeface="Aptos"/>
                <a:ea typeface="Aptos"/>
                <a:cs typeface="Aptos"/>
              </a:defRPr>
            </a:pPr>
            <a:r>
              <a:t>Kuiper Belt</a:t>
            </a:r>
          </a:p>
        </p:txBody>
      </p:sp>
      <p:sp>
        <p:nvSpPr>
          <p:cNvPr id="11" name="small-body-2">
            <a:extLst xmlns:a="http://schemas.openxmlformats.org/drawingml/2006/main">
              <a:ext uri="{FF2B5EF4-FFF2-40B4-BE49-F238E27FC236}">
                <a16:creationId xmlns:a16="http://schemas.microsoft.com/office/drawing/2014/main" id="{72959D9F-7E90-45FA-8336-6F60AAEC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9105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t>icy bodies beyond Neptune, including Pluto</a:t>
            </a:r>
          </a:p>
        </p:txBody>
      </p:sp>
      <p:sp>
        <p:nvSpPr>
          <p:cNvPr id="12" name="rule-778-580">
            <a:extLst xmlns:a="http://schemas.openxmlformats.org/drawingml/2006/main">
              <a:ext uri="{FF2B5EF4-FFF2-40B4-BE49-F238E27FC236}">
                <a16:creationId xmlns:a16="http://schemas.microsoft.com/office/drawing/2014/main" id="{EC71CAAE-DABD-4F43-820B-1F9402B1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552450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13" name="small-head-3">
            <a:extLst xmlns:a="http://schemas.openxmlformats.org/drawingml/2006/main">
              <a:ext uri="{FF2B5EF4-FFF2-40B4-BE49-F238E27FC236}">
                <a16:creationId xmlns:a16="http://schemas.microsoft.com/office/drawing/2014/main" id="{025C4A9F-06B2-4260-BAC5-8EB287B0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410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5171E"/>
                </a:solidFill>
                <a:latin typeface="Aptos"/>
                <a:ea typeface="Aptos"/>
                <a:cs typeface="Aptos"/>
              </a:defRPr>
            </a:pPr>
            <a:r>
              <a:t>Comets</a:t>
            </a:r>
          </a:p>
        </p:txBody>
      </p:sp>
      <p:sp>
        <p:nvSpPr>
          <p:cNvPr id="14" name="small-body-3">
            <a:extLst xmlns:a="http://schemas.openxmlformats.org/drawingml/2006/main">
              <a:ext uri="{FF2B5EF4-FFF2-40B4-BE49-F238E27FC236}">
                <a16:creationId xmlns:a16="http://schemas.microsoft.com/office/drawing/2014/main" id="{5745170C-3E28-4E03-B446-4A6B742E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84835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t>ice-rich messengers with long looping paths</a:t>
            </a:r>
          </a:p>
        </p:txBody>
      </p:sp>
      <p:sp>
        <p:nvSpPr>
          <p:cNvPr id="15" name="rule-778-712">
            <a:extLst xmlns:a="http://schemas.openxmlformats.org/drawingml/2006/main">
              <a:ext uri="{FF2B5EF4-FFF2-40B4-BE49-F238E27FC236}">
                <a16:creationId xmlns:a16="http://schemas.microsoft.com/office/drawing/2014/main" id="{FB864FEF-A050-453C-8BC6-DCBD001B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678180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</p:spPr>
      </p:sp>
      <p:sp>
        <p:nvSpPr>
          <p:cNvPr id="16" name="small-head-4">
            <a:extLst xmlns:a="http://schemas.openxmlformats.org/drawingml/2006/main">
              <a:ext uri="{FF2B5EF4-FFF2-40B4-BE49-F238E27FC236}">
                <a16:creationId xmlns:a16="http://schemas.microsoft.com/office/drawing/2014/main" id="{1085B3A6-F929-440E-8C02-90A9AA76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675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5171E"/>
                </a:solidFill>
                <a:latin typeface="Aptos"/>
                <a:ea typeface="Aptos"/>
                <a:cs typeface="Aptos"/>
              </a:defRPr>
            </a:pPr>
            <a:r>
              <a:t>Moons</a:t>
            </a:r>
          </a:p>
        </p:txBody>
      </p:sp>
      <p:sp>
        <p:nvSpPr>
          <p:cNvPr id="17" name="small-body-4">
            <a:extLst xmlns:a="http://schemas.openxmlformats.org/drawingml/2006/main">
              <a:ext uri="{FF2B5EF4-FFF2-40B4-BE49-F238E27FC236}">
                <a16:creationId xmlns:a16="http://schemas.microsoft.com/office/drawing/2014/main" id="{D1F00D79-BD6F-4169-AA71-3EA6C454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10565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t>worlds around worlds, some with oceans</a:t>
            </a:r>
          </a:p>
        </p:txBody>
      </p:sp>
      <p:sp>
        <p:nvSpPr>
          <p:cNvPr id="18" name="small-landing">
            <a:extLst xmlns:a="http://schemas.openxmlformats.org/drawingml/2006/main">
              <a:ext uri="{FF2B5EF4-FFF2-40B4-BE49-F238E27FC236}">
                <a16:creationId xmlns:a16="http://schemas.microsoft.com/office/drawing/2014/main" id="{B5DF6107-C773-47DF-AD2F-21623647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82867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1732F"/>
                </a:solidFill>
                <a:latin typeface="Aptos"/>
                <a:ea typeface="Aptos"/>
                <a:cs typeface="Aptos"/>
              </a:defRPr>
            </a:pPr>
            <a:r>
              <a:t>The small stuff is not debris in the story. It is the archive.</a:t>
            </a:r>
          </a:p>
        </p:txBody>
      </p:sp>
      <p:sp>
        <p:nvSpPr>
          <p:cNvPr id="1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5A2A8F8-7D09-43F6-A58B-EE5BA9EB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753600"/>
            <a:ext cx="1352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Images and topic references: NASA/JPL. Small-body categories simplified for teaching.</a:t>
            </a:r>
          </a:p>
        </p:txBody>
      </p:sp>
    </p:spTree>
    <p:extLst>
      <p:ext uri="{BB962C8B-B14F-4D97-AF65-F5344CB8AC3E}">
        <p14:creationId xmlns:p14="http://schemas.microsoft.com/office/powerpoint/2010/main" val="4631018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tar-59-0">
            <a:extLst xmlns:a="http://schemas.openxmlformats.org/drawingml/2006/main">
              <a:ext uri="{FF2B5EF4-FFF2-40B4-BE49-F238E27FC236}">
                <a16:creationId xmlns:a16="http://schemas.microsoft.com/office/drawing/2014/main" id="{DB6917B8-3963-44AB-B3BA-A6F18738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3716" y="738783"/>
            <a:ext cx="36532" cy="365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2" name="star-59-1">
            <a:extLst xmlns:a="http://schemas.openxmlformats.org/drawingml/2006/main">
              <a:ext uri="{FF2B5EF4-FFF2-40B4-BE49-F238E27FC236}">
                <a16:creationId xmlns:a16="http://schemas.microsoft.com/office/drawing/2014/main" id="{3D3415B8-1D8C-4B81-A02D-000E64F9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56068" y="7401150"/>
            <a:ext cx="40409" cy="40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3" name="star-59-2">
            <a:extLst xmlns:a="http://schemas.openxmlformats.org/drawingml/2006/main">
              <a:ext uri="{FF2B5EF4-FFF2-40B4-BE49-F238E27FC236}">
                <a16:creationId xmlns:a16="http://schemas.microsoft.com/office/drawing/2014/main" id="{2F2201C2-F983-4BC3-8F67-B7BA5613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9205" y="4611032"/>
            <a:ext cx="41902" cy="419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4" name="star-59-3">
            <a:extLst xmlns:a="http://schemas.openxmlformats.org/drawingml/2006/main">
              <a:ext uri="{FF2B5EF4-FFF2-40B4-BE49-F238E27FC236}">
                <a16:creationId xmlns:a16="http://schemas.microsoft.com/office/drawing/2014/main" id="{E50855C4-2204-4A02-ABC4-450A48AC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8589" y="7670754"/>
            <a:ext cx="51291" cy="512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5" name="star-59-4">
            <a:extLst xmlns:a="http://schemas.openxmlformats.org/drawingml/2006/main">
              <a:ext uri="{FF2B5EF4-FFF2-40B4-BE49-F238E27FC236}">
                <a16:creationId xmlns:a16="http://schemas.microsoft.com/office/drawing/2014/main" id="{C3D0C83B-8B57-433F-A497-BC7CEF63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13405" y="6521445"/>
            <a:ext cx="41315" cy="413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6" name="star-59-5">
            <a:extLst xmlns:a="http://schemas.openxmlformats.org/drawingml/2006/main">
              <a:ext uri="{FF2B5EF4-FFF2-40B4-BE49-F238E27FC236}">
                <a16:creationId xmlns:a16="http://schemas.microsoft.com/office/drawing/2014/main" id="{CEDD1DD8-80CD-4992-ABFE-04EB0158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8804" y="4563770"/>
            <a:ext cx="52206" cy="522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7" name="star-59-6">
            <a:extLst xmlns:a="http://schemas.openxmlformats.org/drawingml/2006/main">
              <a:ext uri="{FF2B5EF4-FFF2-40B4-BE49-F238E27FC236}">
                <a16:creationId xmlns:a16="http://schemas.microsoft.com/office/drawing/2014/main" id="{62A0B4A2-7726-4102-AB38-3BD32E34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6003" y="3236112"/>
            <a:ext cx="28527" cy="28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8" name="star-59-7">
            <a:extLst xmlns:a="http://schemas.openxmlformats.org/drawingml/2006/main">
              <a:ext uri="{FF2B5EF4-FFF2-40B4-BE49-F238E27FC236}">
                <a16:creationId xmlns:a16="http://schemas.microsoft.com/office/drawing/2014/main" id="{FBCBB752-7A55-4808-B83A-1078FEAC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44245" y="909701"/>
            <a:ext cx="51172" cy="511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9" name="star-59-8">
            <a:extLst xmlns:a="http://schemas.openxmlformats.org/drawingml/2006/main">
              <a:ext uri="{FF2B5EF4-FFF2-40B4-BE49-F238E27FC236}">
                <a16:creationId xmlns:a16="http://schemas.microsoft.com/office/drawing/2014/main" id="{032D0593-1F74-4568-805F-82A5E209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7937" y="8392472"/>
            <a:ext cx="31217" cy="312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10" name="star-59-9">
            <a:extLst xmlns:a="http://schemas.openxmlformats.org/drawingml/2006/main">
              <a:ext uri="{FF2B5EF4-FFF2-40B4-BE49-F238E27FC236}">
                <a16:creationId xmlns:a16="http://schemas.microsoft.com/office/drawing/2014/main" id="{AC828215-A533-4FEE-9111-ED7BA62D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71541" y="775456"/>
            <a:ext cx="49280" cy="49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11" name="star-59-10">
            <a:extLst xmlns:a="http://schemas.openxmlformats.org/drawingml/2006/main">
              <a:ext uri="{FF2B5EF4-FFF2-40B4-BE49-F238E27FC236}">
                <a16:creationId xmlns:a16="http://schemas.microsoft.com/office/drawing/2014/main" id="{C32DDFEE-56BE-463A-AFDD-2BBE4D00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28278" y="722992"/>
            <a:ext cx="38523" cy="385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12" name="star-59-11">
            <a:extLst xmlns:a="http://schemas.openxmlformats.org/drawingml/2006/main">
              <a:ext uri="{FF2B5EF4-FFF2-40B4-BE49-F238E27FC236}">
                <a16:creationId xmlns:a16="http://schemas.microsoft.com/office/drawing/2014/main" id="{BB464968-8108-41E0-8034-873402E7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3744" y="4059154"/>
            <a:ext cx="34766" cy="347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13" name="star-59-12">
            <a:extLst xmlns:a="http://schemas.openxmlformats.org/drawingml/2006/main">
              <a:ext uri="{FF2B5EF4-FFF2-40B4-BE49-F238E27FC236}">
                <a16:creationId xmlns:a16="http://schemas.microsoft.com/office/drawing/2014/main" id="{8B8D8B82-6F7B-457E-AB1F-7AD69227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1958" y="4554778"/>
            <a:ext cx="28727" cy="28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14" name="star-59-13">
            <a:extLst xmlns:a="http://schemas.openxmlformats.org/drawingml/2006/main">
              <a:ext uri="{FF2B5EF4-FFF2-40B4-BE49-F238E27FC236}">
                <a16:creationId xmlns:a16="http://schemas.microsoft.com/office/drawing/2014/main" id="{943652D8-F404-48BE-9167-E213B9C9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0921" y="8864502"/>
            <a:ext cx="49871" cy="498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15" name="star-59-14">
            <a:extLst xmlns:a="http://schemas.openxmlformats.org/drawingml/2006/main">
              <a:ext uri="{FF2B5EF4-FFF2-40B4-BE49-F238E27FC236}">
                <a16:creationId xmlns:a16="http://schemas.microsoft.com/office/drawing/2014/main" id="{7A5E26D8-0416-4AF9-A725-B721E585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9669" y="616912"/>
            <a:ext cx="44662" cy="446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16" name="star-59-15">
            <a:extLst xmlns:a="http://schemas.openxmlformats.org/drawingml/2006/main">
              <a:ext uri="{FF2B5EF4-FFF2-40B4-BE49-F238E27FC236}">
                <a16:creationId xmlns:a16="http://schemas.microsoft.com/office/drawing/2014/main" id="{D54A3607-9D99-49D9-8807-1BBE7383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1787" y="624306"/>
            <a:ext cx="42281" cy="422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17" name="star-59-16">
            <a:extLst xmlns:a="http://schemas.openxmlformats.org/drawingml/2006/main">
              <a:ext uri="{FF2B5EF4-FFF2-40B4-BE49-F238E27FC236}">
                <a16:creationId xmlns:a16="http://schemas.microsoft.com/office/drawing/2014/main" id="{433E3BAB-6276-4CC7-A62F-D0FB36A1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5913" y="3140064"/>
            <a:ext cx="26162" cy="261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18" name="star-59-17">
            <a:extLst xmlns:a="http://schemas.openxmlformats.org/drawingml/2006/main">
              <a:ext uri="{FF2B5EF4-FFF2-40B4-BE49-F238E27FC236}">
                <a16:creationId xmlns:a16="http://schemas.microsoft.com/office/drawing/2014/main" id="{C0153440-09ED-44BF-8FA0-78CF1DB8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8972" y="4313413"/>
            <a:ext cx="28762" cy="287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19" name="star-59-18">
            <a:extLst xmlns:a="http://schemas.openxmlformats.org/drawingml/2006/main">
              <a:ext uri="{FF2B5EF4-FFF2-40B4-BE49-F238E27FC236}">
                <a16:creationId xmlns:a16="http://schemas.microsoft.com/office/drawing/2014/main" id="{ECAFAB1D-E8AC-40F1-ADCF-077157B4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6161" y="4644398"/>
            <a:ext cx="34799" cy="347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20" name="star-59-19">
            <a:extLst xmlns:a="http://schemas.openxmlformats.org/drawingml/2006/main">
              <a:ext uri="{FF2B5EF4-FFF2-40B4-BE49-F238E27FC236}">
                <a16:creationId xmlns:a16="http://schemas.microsoft.com/office/drawing/2014/main" id="{9E0EC68D-6755-4800-86EB-A8D7918F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06450" y="8471020"/>
            <a:ext cx="41581" cy="415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21" name="star-59-20">
            <a:extLst xmlns:a="http://schemas.openxmlformats.org/drawingml/2006/main">
              <a:ext uri="{FF2B5EF4-FFF2-40B4-BE49-F238E27FC236}">
                <a16:creationId xmlns:a16="http://schemas.microsoft.com/office/drawing/2014/main" id="{0085FEF0-7801-432F-A904-29A65D4E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61910" y="8302629"/>
            <a:ext cx="52682" cy="526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22" name="star-59-21">
            <a:extLst xmlns:a="http://schemas.openxmlformats.org/drawingml/2006/main">
              <a:ext uri="{FF2B5EF4-FFF2-40B4-BE49-F238E27FC236}">
                <a16:creationId xmlns:a16="http://schemas.microsoft.com/office/drawing/2014/main" id="{7AFC102F-D82A-4B19-AC28-C4D78DCA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42674" y="4032216"/>
            <a:ext cx="38163" cy="381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23" name="star-59-22">
            <a:extLst xmlns:a="http://schemas.openxmlformats.org/drawingml/2006/main">
              <a:ext uri="{FF2B5EF4-FFF2-40B4-BE49-F238E27FC236}">
                <a16:creationId xmlns:a16="http://schemas.microsoft.com/office/drawing/2014/main" id="{1A515D4B-3D93-4092-BD22-21BC9EE4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10092" y="1973328"/>
            <a:ext cx="27071" cy="270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24" name="star-59-23">
            <a:extLst xmlns:a="http://schemas.openxmlformats.org/drawingml/2006/main">
              <a:ext uri="{FF2B5EF4-FFF2-40B4-BE49-F238E27FC236}">
                <a16:creationId xmlns:a16="http://schemas.microsoft.com/office/drawing/2014/main" id="{5F19F369-0C7F-4AB0-8BC3-AA696697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23904" y="2339984"/>
            <a:ext cx="43088" cy="430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25" name="star-59-24">
            <a:extLst xmlns:a="http://schemas.openxmlformats.org/drawingml/2006/main">
              <a:ext uri="{FF2B5EF4-FFF2-40B4-BE49-F238E27FC236}">
                <a16:creationId xmlns:a16="http://schemas.microsoft.com/office/drawing/2014/main" id="{2E8463A7-6E93-4335-8EEE-72731BE9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0955" y="648606"/>
            <a:ext cx="45008" cy="45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26" name="star-59-25">
            <a:extLst xmlns:a="http://schemas.openxmlformats.org/drawingml/2006/main">
              <a:ext uri="{FF2B5EF4-FFF2-40B4-BE49-F238E27FC236}">
                <a16:creationId xmlns:a16="http://schemas.microsoft.com/office/drawing/2014/main" id="{CDFB3398-68A9-4B52-B351-EBFA9E01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14535" y="8568331"/>
            <a:ext cx="20622" cy="206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27" name="star-59-26">
            <a:extLst xmlns:a="http://schemas.openxmlformats.org/drawingml/2006/main">
              <a:ext uri="{FF2B5EF4-FFF2-40B4-BE49-F238E27FC236}">
                <a16:creationId xmlns:a16="http://schemas.microsoft.com/office/drawing/2014/main" id="{9EC034A8-4DD9-4AE1-B9BF-E77842C3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12559" y="1008610"/>
            <a:ext cx="19877" cy="19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28" name="star-59-27">
            <a:extLst xmlns:a="http://schemas.openxmlformats.org/drawingml/2006/main">
              <a:ext uri="{FF2B5EF4-FFF2-40B4-BE49-F238E27FC236}">
                <a16:creationId xmlns:a16="http://schemas.microsoft.com/office/drawing/2014/main" id="{0C84CDC0-E38D-4490-82BC-B53F19C0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84544" y="3158753"/>
            <a:ext cx="28148" cy="281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29" name="star-59-28">
            <a:extLst xmlns:a="http://schemas.openxmlformats.org/drawingml/2006/main">
              <a:ext uri="{FF2B5EF4-FFF2-40B4-BE49-F238E27FC236}">
                <a16:creationId xmlns:a16="http://schemas.microsoft.com/office/drawing/2014/main" id="{90CE410C-A3EC-44CF-9F8C-43654766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03458" y="5364296"/>
            <a:ext cx="52598" cy="525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30" name="star-59-29">
            <a:extLst xmlns:a="http://schemas.openxmlformats.org/drawingml/2006/main">
              <a:ext uri="{FF2B5EF4-FFF2-40B4-BE49-F238E27FC236}">
                <a16:creationId xmlns:a16="http://schemas.microsoft.com/office/drawing/2014/main" id="{B503F8C5-82F7-40A5-A7BA-4C3708E9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2081" y="728268"/>
            <a:ext cx="26275" cy="26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31" name="star-59-30">
            <a:extLst xmlns:a="http://schemas.openxmlformats.org/drawingml/2006/main">
              <a:ext uri="{FF2B5EF4-FFF2-40B4-BE49-F238E27FC236}">
                <a16:creationId xmlns:a16="http://schemas.microsoft.com/office/drawing/2014/main" id="{AB5690DF-2495-4EB7-AEB4-9DB4A1D5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2284" y="8683663"/>
            <a:ext cx="48064" cy="48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32" name="star-59-31">
            <a:extLst xmlns:a="http://schemas.openxmlformats.org/drawingml/2006/main">
              <a:ext uri="{FF2B5EF4-FFF2-40B4-BE49-F238E27FC236}">
                <a16:creationId xmlns:a16="http://schemas.microsoft.com/office/drawing/2014/main" id="{494394AB-1B25-481F-9760-45DAD2AA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80253" y="4725361"/>
            <a:ext cx="30380" cy="303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33" name="star-59-32">
            <a:extLst xmlns:a="http://schemas.openxmlformats.org/drawingml/2006/main">
              <a:ext uri="{FF2B5EF4-FFF2-40B4-BE49-F238E27FC236}">
                <a16:creationId xmlns:a16="http://schemas.microsoft.com/office/drawing/2014/main" id="{32C1514A-2894-4E12-8BB1-E82BE0C6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1061" y="4476713"/>
            <a:ext cx="37124" cy="371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34" name="star-59-33">
            <a:extLst xmlns:a="http://schemas.openxmlformats.org/drawingml/2006/main">
              <a:ext uri="{FF2B5EF4-FFF2-40B4-BE49-F238E27FC236}">
                <a16:creationId xmlns:a16="http://schemas.microsoft.com/office/drawing/2014/main" id="{C631C5A7-AF07-406A-93FE-0E867B89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7838" y="4941460"/>
            <a:ext cx="26293" cy="262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35" name="star-59-34">
            <a:extLst xmlns:a="http://schemas.openxmlformats.org/drawingml/2006/main">
              <a:ext uri="{FF2B5EF4-FFF2-40B4-BE49-F238E27FC236}">
                <a16:creationId xmlns:a16="http://schemas.microsoft.com/office/drawing/2014/main" id="{3172AB50-8448-4A6C-B0A6-4D1A891F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45449" y="6725654"/>
            <a:ext cx="45966" cy="459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36" name="star-59-35">
            <a:extLst xmlns:a="http://schemas.openxmlformats.org/drawingml/2006/main">
              <a:ext uri="{FF2B5EF4-FFF2-40B4-BE49-F238E27FC236}">
                <a16:creationId xmlns:a16="http://schemas.microsoft.com/office/drawing/2014/main" id="{39268612-A773-43BD-A92C-0BB7706D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0364" y="3293481"/>
            <a:ext cx="48801" cy="488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37" name="star-59-36">
            <a:extLst xmlns:a="http://schemas.openxmlformats.org/drawingml/2006/main">
              <a:ext uri="{FF2B5EF4-FFF2-40B4-BE49-F238E27FC236}">
                <a16:creationId xmlns:a16="http://schemas.microsoft.com/office/drawing/2014/main" id="{7C13FA2A-E730-495F-B14E-2A865C42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1523" y="8838604"/>
            <a:ext cx="21285" cy="212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38" name="star-59-37">
            <a:extLst xmlns:a="http://schemas.openxmlformats.org/drawingml/2006/main">
              <a:ext uri="{FF2B5EF4-FFF2-40B4-BE49-F238E27FC236}">
                <a16:creationId xmlns:a16="http://schemas.microsoft.com/office/drawing/2014/main" id="{93A05445-2839-4A7E-99DC-72751011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13316" y="1723528"/>
            <a:ext cx="25274" cy="252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39" name="star-59-38">
            <a:extLst xmlns:a="http://schemas.openxmlformats.org/drawingml/2006/main">
              <a:ext uri="{FF2B5EF4-FFF2-40B4-BE49-F238E27FC236}">
                <a16:creationId xmlns:a16="http://schemas.microsoft.com/office/drawing/2014/main" id="{B8A37915-F348-478C-B0BE-760E87E8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7004" y="5701746"/>
            <a:ext cx="20177" cy="201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40" name="star-59-39">
            <a:extLst xmlns:a="http://schemas.openxmlformats.org/drawingml/2006/main">
              <a:ext uri="{FF2B5EF4-FFF2-40B4-BE49-F238E27FC236}">
                <a16:creationId xmlns:a16="http://schemas.microsoft.com/office/drawing/2014/main" id="{9F9FED2C-02EE-4FCF-83C6-50EEBDE5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8773" y="4913259"/>
            <a:ext cx="53014" cy="530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41" name="star-59-40">
            <a:extLst xmlns:a="http://schemas.openxmlformats.org/drawingml/2006/main">
              <a:ext uri="{FF2B5EF4-FFF2-40B4-BE49-F238E27FC236}">
                <a16:creationId xmlns:a16="http://schemas.microsoft.com/office/drawing/2014/main" id="{287AECC9-D4B4-4049-9F6B-385F0546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7821" y="1848596"/>
            <a:ext cx="32666" cy="326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sp>
        <p:nvSpPr>
          <p:cNvPr id="42" name="star-59-41">
            <a:extLst xmlns:a="http://schemas.openxmlformats.org/drawingml/2006/main">
              <a:ext uri="{FF2B5EF4-FFF2-40B4-BE49-F238E27FC236}">
                <a16:creationId xmlns:a16="http://schemas.microsoft.com/office/drawing/2014/main" id="{F73B5E8A-360B-405C-AA64-106D437C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00596" y="1296420"/>
            <a:ext cx="50180" cy="501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7FF"/>
          </a:solidFill>
        </p:spPr>
      </p:sp>
      <p:pic>
        <p:nvPicPr>
          <p:cNvPr id="43" name="closing-earth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92e0cac3e4db3"/>
          <a:stretch xmlns:a="http://schemas.openxmlformats.org/drawingml/2006/main"/>
        </p:blipFill>
        <p:spPr>
          <a:xfrm xmlns:a="http://schemas.openxmlformats.org/drawingml/2006/main">
            <a:off x="9906000" y="1028700"/>
            <a:ext cx="6667500" cy="6667500"/>
          </a:xfrm>
          <a:prstGeom xmlns:a="http://schemas.openxmlformats.org/drawingml/2006/main" prst="rect">
            <a:avLst/>
          </a:prstGeom>
        </p:spPr>
      </p:pic>
      <p:sp>
        <p:nvSpPr>
          <p:cNvPr id="4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74E9FA-5364-4796-92CB-436C7429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9334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The point of the map is us</a:t>
            </a:r>
          </a:p>
        </p:txBody>
      </p:sp>
      <p:sp>
        <p:nvSpPr>
          <p:cNvPr id="45" name="closing-thesis">
            <a:extLst xmlns:a="http://schemas.openxmlformats.org/drawingml/2006/main">
              <a:ext uri="{FF2B5EF4-FFF2-40B4-BE49-F238E27FC236}">
                <a16:creationId xmlns:a16="http://schemas.microsoft.com/office/drawing/2014/main" id="{5252A35B-C61B-4D98-B6B6-DF1DEE2E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800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F6EFE4"/>
                </a:solidFill>
                <a:latin typeface="Aptos"/>
                <a:ea typeface="Aptos"/>
                <a:cs typeface="Aptos"/>
              </a:defRPr>
            </a:pPr>
            <a:r>
              <a:t>Studying the solar system turns big human questions into places we can visit, measure, and compare.</a:t>
            </a:r>
          </a:p>
        </p:txBody>
      </p:sp>
      <p:sp>
        <p:nvSpPr>
          <p:cNvPr id="46" name="rule-96-514">
            <a:extLst xmlns:a="http://schemas.openxmlformats.org/drawingml/2006/main">
              <a:ext uri="{FF2B5EF4-FFF2-40B4-BE49-F238E27FC236}">
                <a16:creationId xmlns:a16="http://schemas.microsoft.com/office/drawing/2014/main" id="{845661B2-6577-40BC-B46D-F5370F58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89585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</p:spPr>
      </p:sp>
      <p:sp>
        <p:nvSpPr>
          <p:cNvPr id="47" name="closing-head-1">
            <a:extLst xmlns:a="http://schemas.openxmlformats.org/drawingml/2006/main">
              <a:ext uri="{FF2B5EF4-FFF2-40B4-BE49-F238E27FC236}">
                <a16:creationId xmlns:a16="http://schemas.microsoft.com/office/drawing/2014/main" id="{778D670F-1600-4259-912B-292EECF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Origins</a:t>
            </a:r>
          </a:p>
        </p:txBody>
      </p:sp>
      <p:sp>
        <p:nvSpPr>
          <p:cNvPr id="48" name="closing-body-1">
            <a:extLst xmlns:a="http://schemas.openxmlformats.org/drawingml/2006/main">
              <a:ext uri="{FF2B5EF4-FFF2-40B4-BE49-F238E27FC236}">
                <a16:creationId xmlns:a16="http://schemas.microsoft.com/office/drawing/2014/main" id="{088A792B-A447-4225-B6C0-29D556A9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C5D0DE"/>
                </a:solidFill>
                <a:latin typeface="Aptos"/>
                <a:ea typeface="Aptos"/>
                <a:cs typeface="Aptos"/>
              </a:defRPr>
            </a:pPr>
            <a:r>
              <a:t>How did planets assemble?</a:t>
            </a:r>
          </a:p>
        </p:txBody>
      </p:sp>
      <p:sp>
        <p:nvSpPr>
          <p:cNvPr id="49" name="rule-516-514">
            <a:extLst xmlns:a="http://schemas.openxmlformats.org/drawingml/2006/main">
              <a:ext uri="{FF2B5EF4-FFF2-40B4-BE49-F238E27FC236}">
                <a16:creationId xmlns:a16="http://schemas.microsoft.com/office/drawing/2014/main" id="{01D2DB12-BD51-4511-AC5D-EBEC6924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900" y="489585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50" name="closing-head-2">
            <a:extLst xmlns:a="http://schemas.openxmlformats.org/drawingml/2006/main">
              <a:ext uri="{FF2B5EF4-FFF2-40B4-BE49-F238E27FC236}">
                <a16:creationId xmlns:a16="http://schemas.microsoft.com/office/drawing/2014/main" id="{20CEA50A-A529-4834-A6F5-432E9822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244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Life</a:t>
            </a:r>
          </a:p>
        </p:txBody>
      </p:sp>
      <p:sp>
        <p:nvSpPr>
          <p:cNvPr id="51" name="closing-body-2">
            <a:extLst xmlns:a="http://schemas.openxmlformats.org/drawingml/2006/main">
              <a:ext uri="{FF2B5EF4-FFF2-40B4-BE49-F238E27FC236}">
                <a16:creationId xmlns:a16="http://schemas.microsoft.com/office/drawing/2014/main" id="{95B04C69-D81B-46E3-985E-878A0564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5816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C5D0DE"/>
                </a:solidFill>
                <a:latin typeface="Aptos"/>
                <a:ea typeface="Aptos"/>
                <a:cs typeface="Aptos"/>
              </a:defRPr>
            </a:pPr>
            <a:r>
              <a:t>Where can chemistry become biology?</a:t>
            </a:r>
          </a:p>
        </p:txBody>
      </p:sp>
      <p:sp>
        <p:nvSpPr>
          <p:cNvPr id="52" name="rule-96-682">
            <a:extLst xmlns:a="http://schemas.openxmlformats.org/drawingml/2006/main">
              <a:ext uri="{FF2B5EF4-FFF2-40B4-BE49-F238E27FC236}">
                <a16:creationId xmlns:a16="http://schemas.microsoft.com/office/drawing/2014/main" id="{1814C75F-06AB-49E4-99EE-62FE61C5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649605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3A"/>
          </a:solidFill>
        </p:spPr>
      </p:sp>
      <p:sp>
        <p:nvSpPr>
          <p:cNvPr id="53" name="closing-head-3">
            <a:extLst xmlns:a="http://schemas.openxmlformats.org/drawingml/2006/main">
              <a:ext uri="{FF2B5EF4-FFF2-40B4-BE49-F238E27FC236}">
                <a16:creationId xmlns:a16="http://schemas.microsoft.com/office/drawing/2014/main" id="{F89C019F-359A-4D67-90E8-0B6B8D91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246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Climate</a:t>
            </a:r>
          </a:p>
        </p:txBody>
      </p:sp>
      <p:sp>
        <p:nvSpPr>
          <p:cNvPr id="54" name="closing-body-3">
            <a:extLst xmlns:a="http://schemas.openxmlformats.org/drawingml/2006/main">
              <a:ext uri="{FF2B5EF4-FFF2-40B4-BE49-F238E27FC236}">
                <a16:creationId xmlns:a16="http://schemas.microsoft.com/office/drawing/2014/main" id="{7572283C-2E47-4D42-8F1A-DBFFDB94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818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C5D0DE"/>
                </a:solidFill>
                <a:latin typeface="Aptos"/>
                <a:ea typeface="Aptos"/>
                <a:cs typeface="Aptos"/>
              </a:defRPr>
            </a:pPr>
            <a:r>
              <a:t>What makes a world stable or hostile?</a:t>
            </a:r>
          </a:p>
        </p:txBody>
      </p:sp>
      <p:sp>
        <p:nvSpPr>
          <p:cNvPr id="55" name="rule-516-682">
            <a:extLst xmlns:a="http://schemas.openxmlformats.org/drawingml/2006/main">
              <a:ext uri="{FF2B5EF4-FFF2-40B4-BE49-F238E27FC236}">
                <a16:creationId xmlns:a16="http://schemas.microsoft.com/office/drawing/2014/main" id="{12A37227-B520-488F-B478-BAACF873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900" y="649605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6FF"/>
          </a:solidFill>
        </p:spPr>
      </p:sp>
      <p:sp>
        <p:nvSpPr>
          <p:cNvPr id="56" name="closing-head-4">
            <a:extLst xmlns:a="http://schemas.openxmlformats.org/drawingml/2006/main">
              <a:ext uri="{FF2B5EF4-FFF2-40B4-BE49-F238E27FC236}">
                <a16:creationId xmlns:a16="http://schemas.microsoft.com/office/drawing/2014/main" id="{0606814A-3A68-440C-A027-2F76E118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7246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Exploration</a:t>
            </a:r>
          </a:p>
        </p:txBody>
      </p:sp>
      <p:sp>
        <p:nvSpPr>
          <p:cNvPr id="57" name="closing-body-4">
            <a:extLst xmlns:a="http://schemas.openxmlformats.org/drawingml/2006/main">
              <a:ext uri="{FF2B5EF4-FFF2-40B4-BE49-F238E27FC236}">
                <a16:creationId xmlns:a16="http://schemas.microsoft.com/office/drawing/2014/main" id="{CBA946DE-A248-4DD7-9704-972987B4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71818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C5D0DE"/>
                </a:solidFill>
                <a:latin typeface="Aptos"/>
                <a:ea typeface="Aptos"/>
                <a:cs typeface="Aptos"/>
              </a:defRPr>
            </a:pPr>
            <a:r>
              <a:t>How do we move farther without losing home?</a:t>
            </a:r>
          </a:p>
        </p:txBody>
      </p:sp>
      <p:sp>
        <p:nvSpPr>
          <p:cNvPr id="58" name="rule-1044-840">
            <a:extLst xmlns:a="http://schemas.openxmlformats.org/drawingml/2006/main">
              <a:ext uri="{FF2B5EF4-FFF2-40B4-BE49-F238E27FC236}">
                <a16:creationId xmlns:a16="http://schemas.microsoft.com/office/drawing/2014/main" id="{90D06401-D6D0-4A0D-9A62-53BE4C70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4100" y="8001000"/>
            <a:ext cx="5753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59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571F8BDE-F1AA-4550-9C87-9868D33C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8343900"/>
            <a:ext cx="581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A solar system is a mirror with eight planets, countless small worlds, and one home.</a:t>
            </a:r>
          </a:p>
        </p:txBody>
      </p:sp>
      <p:sp>
        <p:nvSpPr>
          <p:cNvPr id="6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0D43A68-D870-48E0-B477-4DBB2819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753600"/>
            <a:ext cx="1352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794A8"/>
                </a:solidFill>
                <a:latin typeface="Aptos"/>
                <a:ea typeface="Aptos"/>
                <a:cs typeface="Aptos"/>
              </a:defRPr>
            </a:pPr>
            <a:r>
              <a:t>Images and data: NASA/JPL/GSFC. Closing synthesis by deck author.</a:t>
            </a:r>
          </a:p>
        </p:txBody>
      </p:sp>
    </p:spTree>
    <p:extLst>
      <p:ext uri="{BB962C8B-B14F-4D97-AF65-F5344CB8AC3E}">
        <p14:creationId xmlns:p14="http://schemas.microsoft.com/office/powerpoint/2010/main" val="13801079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2026-05-14T13:53:31.0890000Z</dcterms:created>
  <dcterms:modified xsi:type="dcterms:W3CDTF">2026-05-14T13:53:31.0890000Z</dcterms:modified>
</coreProperties>
</file>